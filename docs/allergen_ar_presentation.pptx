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8" d="100"/>
          <a:sy n="98" d="100"/>
        </p:scale>
        <p:origin x="68"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5183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Food allergies affect millions of people. A menu doesn't list hidden ingredients. A home-cooked dish has no label. We built glasses that answer 'is this safe?' the moment you look at your food and ask. State the theme line once, here, and don't repeat it verbatim again until the close.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Collapse the journey and architecture into one breath: RayNeo AR glasses capture the food image and the spoken question, relay to a Samsung Galaxy S25 Ultra, whose on-device agent tries a nearby Snapdragon X Elite PC first via automatic network discovery, and only falls back to AWS cloud if no local host answers. Land: same user experience either way — the phone decides, not the person. Demo callout: none, set up the two paths the demo will exercise.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Collapse the journey and architecture into one breath: RayNeo AR glasses capture the food image and the spoken question, relay to a Samsung Galaxy S25 Ultra, whose on-device agent tries a nearby Snapdragon X Elite PC first via automatic network discovery, and only falls back to AWS cloud if no local host answers. Land: same user experience either way — the phone decides, not the person. Demo callout: none, set up the two paths the demo will exercise.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identifies food items, infers ingredients, flags matches against the nine major allergen categories, and returns a result without ever leaving the device or the LAN. Be accurate if asked: in the current build, LM Studio on X Elite runs this inference on CPU — NPU/GPU acceleration isn't wired up yet, it's the clear next optimization (see appendix). The win today is architectural, not silicon-specific: zero image data leaves the LAN, no per-inference cloud cost, and it keeps working fully offline. Demo callout: flag that the upcoming demo will show a visible latency counter on this exact path.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no local host is discovered, the same request routes to AWS EC2, where Ollama serves the larger Qwen3-VL:8B — a stronger, not weaker, fallback. The link to AWS uses Multipath QUIC, riding Wi-Fi and 5G at the same time; if one network drops, the connection survives on the other with no reconnect. This is the single most technically distinctive piece of the stack — say so.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beats only, tight timing: (1) Ask the allergen question wearing the glasses, local path answers fast — call out the path indicator. (2) Disable the local host (or just narrate 'now forcing cloud') and re-ask — show the fallback to AWS and, if time allows, the Wi-Fi-to-5G path switch on the live stats. Narrate each beat in one sentence — don't go quiet while it runs. This IS the demo slide — have a 60-90s backup video cued in case live networking fails at the venue.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Local when possible. Cloud when needed. Safety always. Thank you — happy to take questions. Keep it to one breath; don't introduce new information here.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Koog handles conversation history/context summarization across turns and lets the agent move sessions between LLM backends (local model today, cloud model on fallback, or a different model entirely tomorrow) without losing context. This is the same problem LangChain/LangGraph solve on the Python side — Koog is that role for this stack. Without it, every local↔cloud handoff would either drop context or require hand-rolled summarization.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you're on a single path, a bad Wi-Fi signal is something you just suffer through — the connection doesn't know a better path exists. With Multipath QUIC, the client holds Wi-Fi and 5G open simultaneously; a scheduler like minrtt actively routes traffic over whichever path currently measures the best round-trip time, and can shift away from a degrading path without dropping the connection. It's not just failover — it's continuous best-path selection, plus the option to aggregate both paths for higher throughput.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goal is discovering available devices and services on the LAN without the user manually entering an IP address or pairing anything — the same category of 'just works' discovery as finding a nearby printer or Chromecast. That's the whole justification: local-first only works as an experience if discovery is invisible.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you're already wearing the glasses, asking them is quicker than pulling out and unlocking a phone — and speed matters when the moment to check is right before the first bite. If glasses aren't available or aren't worn, the same question still works by phone alone — the glasses are an accelerant to the experience, not a hard dependency. Pair this with the honest note: LM Studio on X Elite is CPU-only in this build, no NPU/GPU acceleration yet — worth stating proactively if a Qualcomm engineer doesn't ask, since it's the clearest immediate next step for this project.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Allergen detection is the demo, but the architecture underneath — local device group, mDNS discovery, smart task routing to local or remote compute — isn't allergen-specific. The same pattern applies to food recognition, translation, shopping, and travel assistance: use the local device when it's capable, reach for more powerful remote compute only when needed.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0"/>
          </a:xfrm>
          <a:prstGeom prst="rect">
            <a:avLst/>
          </a:prstGeom>
          <a:solidFill>
            <a:srgbClr val="F7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46304" cy="6858000"/>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594360"/>
            <a:ext cx="10515600" cy="365760"/>
          </a:xfrm>
          <a:prstGeom prst="rect">
            <a:avLst/>
          </a:prstGeom>
          <a:noFill/>
        </p:spPr>
        <p:txBody>
          <a:bodyPr wrap="square" lIns="0" tIns="0" rIns="0" bIns="0" anchor="t">
            <a:spAutoFit/>
          </a:bodyPr>
          <a:lstStyle/>
          <a:p>
            <a:pPr algn="l">
              <a:spcAft>
                <a:spcPts val="600"/>
              </a:spcAft>
            </a:pPr>
            <a:r>
              <a:rPr sz="1400" b="1" i="0">
                <a:solidFill>
                  <a:srgbClr val="083D82"/>
                </a:solidFill>
                <a:latin typeface="Segoe UI"/>
              </a:rPr>
              <a:t>LOCAL WHEN POSSIBLE.  CLOUD WHEN NEEDED.  SAFETY ALWAYS.</a:t>
            </a:r>
          </a:p>
        </p:txBody>
      </p:sp>
      <p:sp>
        <p:nvSpPr>
          <p:cNvPr id="6" name="TextBox 5"/>
          <p:cNvSpPr txBox="1"/>
          <p:nvPr/>
        </p:nvSpPr>
        <p:spPr>
          <a:xfrm>
            <a:off x="822960" y="1051560"/>
            <a:ext cx="10515600" cy="1554480"/>
          </a:xfrm>
          <a:prstGeom prst="rect">
            <a:avLst/>
          </a:prstGeom>
          <a:noFill/>
        </p:spPr>
        <p:txBody>
          <a:bodyPr wrap="square" lIns="0" tIns="0" rIns="0" bIns="0" anchor="t">
            <a:spAutoFit/>
          </a:bodyPr>
          <a:lstStyle/>
          <a:p>
            <a:pPr algn="l">
              <a:spcAft>
                <a:spcPts val="200"/>
              </a:spcAft>
            </a:pPr>
            <a:r>
              <a:rPr sz="4200" b="1" i="0">
                <a:solidFill>
                  <a:srgbClr val="1A1E27"/>
                </a:solidFill>
                <a:latin typeface="Segoe UI Semibold"/>
              </a:rPr>
              <a:t>AI-Powered Allergen Detection</a:t>
            </a:r>
          </a:p>
          <a:p>
            <a:pPr algn="l">
              <a:spcAft>
                <a:spcPts val="600"/>
              </a:spcAft>
            </a:pPr>
            <a:r>
              <a:rPr sz="2200" b="0" i="0">
                <a:solidFill>
                  <a:srgbClr val="4A5260"/>
                </a:solidFill>
                <a:latin typeface="Segoe UI Semibold"/>
              </a:rPr>
              <a:t>AR Glasses · Edge AI · Multipath QUIC</a:t>
            </a:r>
          </a:p>
        </p:txBody>
      </p:sp>
      <p:sp>
        <p:nvSpPr>
          <p:cNvPr id="7" name="TextBox 6"/>
          <p:cNvSpPr txBox="1"/>
          <p:nvPr/>
        </p:nvSpPr>
        <p:spPr>
          <a:xfrm>
            <a:off x="822960" y="2606040"/>
            <a:ext cx="6309360" cy="1737360"/>
          </a:xfrm>
          <a:prstGeom prst="rect">
            <a:avLst/>
          </a:prstGeom>
          <a:noFill/>
        </p:spPr>
        <p:txBody>
          <a:bodyPr wrap="square" lIns="0" tIns="0" rIns="0" bIns="0" anchor="t">
            <a:spAutoFit/>
          </a:bodyPr>
          <a:lstStyle/>
          <a:p>
            <a:pPr algn="l">
              <a:spcAft>
                <a:spcPts val="1000"/>
              </a:spcAft>
            </a:pPr>
            <a:r>
              <a:rPr sz="1900" b="1" i="0">
                <a:solidFill>
                  <a:srgbClr val="1A1E27"/>
                </a:solidFill>
                <a:latin typeface="Segoe UI"/>
              </a:rPr>
              <a:t>Millions of people can't tell if a meal will hurt them — until it's too late.</a:t>
            </a:r>
          </a:p>
          <a:p>
            <a:pPr algn="l">
              <a:spcAft>
                <a:spcPts val="600"/>
              </a:spcAft>
            </a:pPr>
            <a:r>
              <a:rPr sz="1450" b="0" i="0">
                <a:solidFill>
                  <a:srgbClr val="4A5260"/>
                </a:solidFill>
                <a:latin typeface="Segoe UI"/>
              </a:rPr>
              <a:t>A menu doesn't list hidden ingredients. A home-cooked dish has no label. We built glasses that answer “is this safe?” the moment you look at your food and ask.</a:t>
            </a:r>
          </a:p>
        </p:txBody>
      </p:sp>
      <p:sp>
        <p:nvSpPr>
          <p:cNvPr id="8" name="TextBox 7"/>
          <p:cNvSpPr txBox="1"/>
          <p:nvPr/>
        </p:nvSpPr>
        <p:spPr>
          <a:xfrm>
            <a:off x="7543800" y="2286000"/>
            <a:ext cx="4114800" cy="274320"/>
          </a:xfrm>
          <a:prstGeom prst="rect">
            <a:avLst/>
          </a:prstGeom>
          <a:noFill/>
        </p:spPr>
        <p:txBody>
          <a:bodyPr wrap="square" lIns="0" tIns="0" rIns="0" bIns="0" anchor="t">
            <a:spAutoFit/>
          </a:bodyPr>
          <a:lstStyle/>
          <a:p>
            <a:pPr algn="l">
              <a:spcAft>
                <a:spcPts val="600"/>
              </a:spcAft>
            </a:pPr>
            <a:r>
              <a:rPr sz="1100" b="1" i="0">
                <a:solidFill>
                  <a:srgbClr val="083D82"/>
                </a:solidFill>
                <a:latin typeface="Segoe UI"/>
              </a:rPr>
              <a:t>9 MAJOR ALLERGEN CATEGORIES</a:t>
            </a:r>
          </a:p>
        </p:txBody>
      </p:sp>
      <p:sp>
        <p:nvSpPr>
          <p:cNvPr id="9" name="Rounded Rectangle 8"/>
          <p:cNvSpPr/>
          <p:nvPr/>
        </p:nvSpPr>
        <p:spPr>
          <a:xfrm>
            <a:off x="7543800" y="2606040"/>
            <a:ext cx="1298448" cy="457200"/>
          </a:xfrm>
          <a:prstGeom prst="roundRect">
            <a:avLst>
              <a:gd name="adj" fmla="val 50000"/>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lIns="76200" tIns="25400" rIns="76200" bIns="25400" rtlCol="0" anchor="ctr"/>
          <a:lstStyle/>
          <a:p>
            <a:pPr algn="ctr"/>
            <a:r>
              <a:rPr sz="1250" b="1" i="0">
                <a:solidFill>
                  <a:srgbClr val="1A1E27"/>
                </a:solidFill>
                <a:latin typeface="Segoe UI"/>
              </a:rPr>
              <a:t>Peanuts</a:t>
            </a:r>
          </a:p>
        </p:txBody>
      </p:sp>
      <p:sp>
        <p:nvSpPr>
          <p:cNvPr id="10" name="Rounded Rectangle 9"/>
          <p:cNvSpPr/>
          <p:nvPr/>
        </p:nvSpPr>
        <p:spPr>
          <a:xfrm>
            <a:off x="8951976" y="2606040"/>
            <a:ext cx="1298448" cy="457200"/>
          </a:xfrm>
          <a:prstGeom prst="roundRect">
            <a:avLst>
              <a:gd name="adj" fmla="val 50000"/>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lIns="76200" tIns="25400" rIns="76200" bIns="25400" rtlCol="0" anchor="ctr"/>
          <a:lstStyle/>
          <a:p>
            <a:pPr algn="ctr"/>
            <a:r>
              <a:rPr sz="1250" b="1" i="0">
                <a:solidFill>
                  <a:srgbClr val="1A1E27"/>
                </a:solidFill>
                <a:latin typeface="Segoe UI"/>
              </a:rPr>
              <a:t>Tree Nuts</a:t>
            </a:r>
          </a:p>
        </p:txBody>
      </p:sp>
      <p:sp>
        <p:nvSpPr>
          <p:cNvPr id="11" name="Rounded Rectangle 10"/>
          <p:cNvSpPr/>
          <p:nvPr/>
        </p:nvSpPr>
        <p:spPr>
          <a:xfrm>
            <a:off x="10360152" y="2606040"/>
            <a:ext cx="1298448" cy="457200"/>
          </a:xfrm>
          <a:prstGeom prst="roundRect">
            <a:avLst>
              <a:gd name="adj" fmla="val 50000"/>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lIns="76200" tIns="25400" rIns="76200" bIns="25400" rtlCol="0" anchor="ctr"/>
          <a:lstStyle/>
          <a:p>
            <a:pPr algn="ctr"/>
            <a:r>
              <a:rPr sz="1250" b="1" i="0">
                <a:solidFill>
                  <a:srgbClr val="1A1E27"/>
                </a:solidFill>
                <a:latin typeface="Segoe UI"/>
              </a:rPr>
              <a:t>Dairy</a:t>
            </a:r>
          </a:p>
        </p:txBody>
      </p:sp>
      <p:sp>
        <p:nvSpPr>
          <p:cNvPr id="12" name="Rounded Rectangle 11"/>
          <p:cNvSpPr/>
          <p:nvPr/>
        </p:nvSpPr>
        <p:spPr>
          <a:xfrm>
            <a:off x="7543800" y="3172968"/>
            <a:ext cx="1298448" cy="457200"/>
          </a:xfrm>
          <a:prstGeom prst="roundRect">
            <a:avLst>
              <a:gd name="adj" fmla="val 50000"/>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lIns="76200" tIns="25400" rIns="76200" bIns="25400" rtlCol="0" anchor="ctr"/>
          <a:lstStyle/>
          <a:p>
            <a:pPr algn="ctr"/>
            <a:r>
              <a:rPr sz="1250" b="1" i="0">
                <a:solidFill>
                  <a:srgbClr val="1A1E27"/>
                </a:solidFill>
                <a:latin typeface="Segoe UI"/>
              </a:rPr>
              <a:t>Eggs</a:t>
            </a:r>
          </a:p>
        </p:txBody>
      </p:sp>
      <p:sp>
        <p:nvSpPr>
          <p:cNvPr id="13" name="Rounded Rectangle 12"/>
          <p:cNvSpPr/>
          <p:nvPr/>
        </p:nvSpPr>
        <p:spPr>
          <a:xfrm>
            <a:off x="8951976" y="3172968"/>
            <a:ext cx="1298448" cy="457200"/>
          </a:xfrm>
          <a:prstGeom prst="roundRect">
            <a:avLst>
              <a:gd name="adj" fmla="val 50000"/>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lIns="76200" tIns="25400" rIns="76200" bIns="25400" rtlCol="0" anchor="ctr"/>
          <a:lstStyle/>
          <a:p>
            <a:pPr algn="ctr"/>
            <a:r>
              <a:rPr sz="1250" b="1" i="0">
                <a:solidFill>
                  <a:srgbClr val="1A1E27"/>
                </a:solidFill>
                <a:latin typeface="Segoe UI"/>
              </a:rPr>
              <a:t>Shellfish</a:t>
            </a:r>
          </a:p>
        </p:txBody>
      </p:sp>
      <p:sp>
        <p:nvSpPr>
          <p:cNvPr id="14" name="Rounded Rectangle 13"/>
          <p:cNvSpPr/>
          <p:nvPr/>
        </p:nvSpPr>
        <p:spPr>
          <a:xfrm>
            <a:off x="10360152" y="3172968"/>
            <a:ext cx="1298448" cy="457200"/>
          </a:xfrm>
          <a:prstGeom prst="roundRect">
            <a:avLst>
              <a:gd name="adj" fmla="val 50000"/>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lIns="76200" tIns="25400" rIns="76200" bIns="25400" rtlCol="0" anchor="ctr"/>
          <a:lstStyle/>
          <a:p>
            <a:pPr algn="ctr"/>
            <a:r>
              <a:rPr sz="1250" b="1" i="0">
                <a:solidFill>
                  <a:srgbClr val="1A1E27"/>
                </a:solidFill>
                <a:latin typeface="Segoe UI"/>
              </a:rPr>
              <a:t>Fish</a:t>
            </a:r>
          </a:p>
        </p:txBody>
      </p:sp>
      <p:sp>
        <p:nvSpPr>
          <p:cNvPr id="15" name="Rounded Rectangle 14"/>
          <p:cNvSpPr/>
          <p:nvPr/>
        </p:nvSpPr>
        <p:spPr>
          <a:xfrm>
            <a:off x="7543800" y="3739896"/>
            <a:ext cx="1298448" cy="457200"/>
          </a:xfrm>
          <a:prstGeom prst="roundRect">
            <a:avLst>
              <a:gd name="adj" fmla="val 50000"/>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lIns="76200" tIns="25400" rIns="76200" bIns="25400" rtlCol="0" anchor="ctr"/>
          <a:lstStyle/>
          <a:p>
            <a:pPr algn="ctr"/>
            <a:r>
              <a:rPr sz="1250" b="1" i="0">
                <a:solidFill>
                  <a:srgbClr val="1A1E27"/>
                </a:solidFill>
                <a:latin typeface="Segoe UI"/>
              </a:rPr>
              <a:t>Soy</a:t>
            </a:r>
          </a:p>
        </p:txBody>
      </p:sp>
      <p:sp>
        <p:nvSpPr>
          <p:cNvPr id="16" name="Rounded Rectangle 15"/>
          <p:cNvSpPr/>
          <p:nvPr/>
        </p:nvSpPr>
        <p:spPr>
          <a:xfrm>
            <a:off x="8951976" y="3739896"/>
            <a:ext cx="1298448" cy="457200"/>
          </a:xfrm>
          <a:prstGeom prst="roundRect">
            <a:avLst>
              <a:gd name="adj" fmla="val 50000"/>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lIns="76200" tIns="25400" rIns="76200" bIns="25400" rtlCol="0" anchor="ctr"/>
          <a:lstStyle/>
          <a:p>
            <a:pPr algn="ctr"/>
            <a:r>
              <a:rPr sz="1250" b="1" i="0">
                <a:solidFill>
                  <a:srgbClr val="1A1E27"/>
                </a:solidFill>
                <a:latin typeface="Segoe UI"/>
              </a:rPr>
              <a:t>Wheat</a:t>
            </a:r>
          </a:p>
        </p:txBody>
      </p:sp>
      <p:sp>
        <p:nvSpPr>
          <p:cNvPr id="17" name="Rounded Rectangle 16"/>
          <p:cNvSpPr/>
          <p:nvPr/>
        </p:nvSpPr>
        <p:spPr>
          <a:xfrm>
            <a:off x="10360152" y="3739896"/>
            <a:ext cx="1298448" cy="457200"/>
          </a:xfrm>
          <a:prstGeom prst="roundRect">
            <a:avLst>
              <a:gd name="adj" fmla="val 50000"/>
            </a:avLst>
          </a:prstGeom>
          <a:solidFill>
            <a:srgbClr val="FFFFFF"/>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lIns="76200" tIns="25400" rIns="76200" bIns="25400" rtlCol="0" anchor="ctr"/>
          <a:lstStyle/>
          <a:p>
            <a:pPr algn="ctr"/>
            <a:r>
              <a:rPr sz="1250" b="1" i="0">
                <a:solidFill>
                  <a:srgbClr val="1A1E27"/>
                </a:solidFill>
                <a:latin typeface="Segoe UI"/>
              </a:rPr>
              <a:t>Sesame</a:t>
            </a:r>
          </a:p>
        </p:txBody>
      </p:sp>
      <p:sp>
        <p:nvSpPr>
          <p:cNvPr id="18" name="TextBox 17"/>
          <p:cNvSpPr txBox="1"/>
          <p:nvPr/>
        </p:nvSpPr>
        <p:spPr>
          <a:xfrm>
            <a:off x="548640" y="6510528"/>
            <a:ext cx="7315200" cy="274320"/>
          </a:xfrm>
          <a:prstGeom prst="rect">
            <a:avLst/>
          </a:prstGeom>
          <a:noFill/>
        </p:spPr>
        <p:txBody>
          <a:bodyPr wrap="square" lIns="0" tIns="0" rIns="0" bIns="0" anchor="t">
            <a:spAutoFit/>
          </a:bodyPr>
          <a:lstStyle/>
          <a:p>
            <a:pPr algn="l">
              <a:spcAft>
                <a:spcPts val="600"/>
              </a:spcAft>
            </a:pPr>
            <a:r>
              <a:rPr sz="1000" b="0" i="0">
                <a:solidFill>
                  <a:srgbClr val="4A5260"/>
                </a:solidFill>
                <a:latin typeface="Segoe UI"/>
              </a:rPr>
              <a:t>AI-Powered Allergen Detection  |  AR Glasses · Edge AI · Multipath QUIC</a:t>
            </a:r>
          </a:p>
        </p:txBody>
      </p:sp>
      <p:sp>
        <p:nvSpPr>
          <p:cNvPr id="19" name="TextBox 18"/>
          <p:cNvSpPr txBox="1"/>
          <p:nvPr/>
        </p:nvSpPr>
        <p:spPr>
          <a:xfrm>
            <a:off x="10881360" y="6510528"/>
            <a:ext cx="822960" cy="274320"/>
          </a:xfrm>
          <a:prstGeom prst="rect">
            <a:avLst/>
          </a:prstGeom>
          <a:noFill/>
        </p:spPr>
        <p:txBody>
          <a:bodyPr wrap="square" lIns="0" tIns="0" rIns="0" bIns="0" anchor="t">
            <a:spAutoFit/>
          </a:bodyPr>
          <a:lstStyle/>
          <a:p>
            <a:pPr algn="r">
              <a:spcAft>
                <a:spcPts val="600"/>
              </a:spcAft>
            </a:pPr>
            <a:r>
              <a:rPr sz="1000" b="0" i="0">
                <a:solidFill>
                  <a:srgbClr val="4A5260"/>
                </a:solidFill>
                <a:latin typeface="Segoe UI"/>
              </a:rPr>
              <a:t>1 / 7</a:t>
            </a:r>
          </a:p>
        </p:txBody>
      </p:sp>
      <p:sp>
        <p:nvSpPr>
          <p:cNvPr id="20" name="Rectangle 19"/>
          <p:cNvSpPr/>
          <p:nvPr/>
        </p:nvSpPr>
        <p:spPr>
          <a:xfrm>
            <a:off x="548640" y="6419088"/>
            <a:ext cx="11091672" cy="12700"/>
          </a:xfrm>
          <a:prstGeom prst="rect">
            <a:avLst/>
          </a:prstGeom>
          <a:solidFill>
            <a:srgbClr val="DC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457200"/>
            <a:ext cx="128016" cy="777240"/>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384048"/>
            <a:ext cx="10698480" cy="320040"/>
          </a:xfrm>
          <a:prstGeom prst="rect">
            <a:avLst/>
          </a:prstGeom>
          <a:noFill/>
        </p:spPr>
        <p:txBody>
          <a:bodyPr wrap="square" lIns="0" tIns="0" rIns="0" bIns="0" anchor="t">
            <a:spAutoFit/>
          </a:bodyPr>
          <a:lstStyle/>
          <a:p>
            <a:pPr algn="l">
              <a:spcAft>
                <a:spcPts val="600"/>
              </a:spcAft>
            </a:pPr>
            <a:r>
              <a:rPr sz="1300" b="1" i="0">
                <a:solidFill>
                  <a:srgbClr val="0B63CE"/>
                </a:solidFill>
                <a:latin typeface="Segoe UI"/>
              </a:rPr>
              <a:t>ARCHITECTURE</a:t>
            </a:r>
          </a:p>
        </p:txBody>
      </p:sp>
      <p:sp>
        <p:nvSpPr>
          <p:cNvPr id="5" name="TextBox 4"/>
          <p:cNvSpPr txBox="1"/>
          <p:nvPr/>
        </p:nvSpPr>
        <p:spPr>
          <a:xfrm>
            <a:off x="868680" y="658368"/>
            <a:ext cx="10698480" cy="685800"/>
          </a:xfrm>
          <a:prstGeom prst="rect">
            <a:avLst/>
          </a:prstGeom>
          <a:noFill/>
        </p:spPr>
        <p:txBody>
          <a:bodyPr wrap="square" lIns="0" tIns="0" rIns="0" bIns="0" anchor="t">
            <a:spAutoFit/>
          </a:bodyPr>
          <a:lstStyle/>
          <a:p>
            <a:pPr algn="l">
              <a:spcAft>
                <a:spcPts val="600"/>
              </a:spcAft>
            </a:pPr>
            <a:r>
              <a:rPr sz="3000" b="1" i="0">
                <a:solidFill>
                  <a:srgbClr val="1A1E27"/>
                </a:solidFill>
                <a:latin typeface="Segoe UI Semibold"/>
              </a:rPr>
              <a:t>End-to-End System Architecture</a:t>
            </a:r>
          </a:p>
        </p:txBody>
      </p:sp>
      <p:sp>
        <p:nvSpPr>
          <p:cNvPr id="6" name="TextBox 5"/>
          <p:cNvSpPr txBox="1"/>
          <p:nvPr/>
        </p:nvSpPr>
        <p:spPr>
          <a:xfrm>
            <a:off x="868680" y="1417320"/>
            <a:ext cx="10515600" cy="502920"/>
          </a:xfrm>
          <a:prstGeom prst="rect">
            <a:avLst/>
          </a:prstGeom>
          <a:noFill/>
        </p:spPr>
        <p:txBody>
          <a:bodyPr wrap="square" lIns="0" tIns="0" rIns="0" bIns="0" anchor="t">
            <a:spAutoFit/>
          </a:bodyPr>
          <a:lstStyle/>
          <a:p>
            <a:pPr algn="l">
              <a:spcAft>
                <a:spcPts val="600"/>
              </a:spcAft>
            </a:pPr>
            <a:r>
              <a:rPr sz="1600" b="0" i="0">
                <a:solidFill>
                  <a:srgbClr val="4A5260"/>
                </a:solidFill>
                <a:latin typeface="Segoe UI"/>
              </a:rPr>
              <a:t>Local first, cloud when needed — same user experience either way. The phone decides, not the person.</a:t>
            </a:r>
          </a:p>
        </p:txBody>
      </p:sp>
      <p:pic>
        <p:nvPicPr>
          <p:cNvPr id="7" name="Picture 6" descr="architecture_technology.png"/>
          <p:cNvPicPr>
            <a:picLocks noChangeAspect="1"/>
          </p:cNvPicPr>
          <p:nvPr/>
        </p:nvPicPr>
        <p:blipFill>
          <a:blip r:embed="rId3"/>
          <a:srcRect t="9494"/>
          <a:stretch>
            <a:fillRect/>
          </a:stretch>
        </p:blipFill>
        <p:spPr>
          <a:xfrm>
            <a:off x="2204515" y="1699008"/>
            <a:ext cx="7843930" cy="4732780"/>
          </a:xfrm>
          <a:prstGeom prst="rect">
            <a:avLst/>
          </a:prstGeom>
        </p:spPr>
      </p:pic>
      <p:sp>
        <p:nvSpPr>
          <p:cNvPr id="8" name="TextBox 7"/>
          <p:cNvSpPr txBox="1"/>
          <p:nvPr/>
        </p:nvSpPr>
        <p:spPr>
          <a:xfrm>
            <a:off x="548640" y="6510528"/>
            <a:ext cx="7315200" cy="274320"/>
          </a:xfrm>
          <a:prstGeom prst="rect">
            <a:avLst/>
          </a:prstGeom>
          <a:noFill/>
        </p:spPr>
        <p:txBody>
          <a:bodyPr wrap="square" lIns="0" tIns="0" rIns="0" bIns="0" anchor="t">
            <a:spAutoFit/>
          </a:bodyPr>
          <a:lstStyle/>
          <a:p>
            <a:pPr algn="l">
              <a:spcAft>
                <a:spcPts val="600"/>
              </a:spcAft>
            </a:pPr>
            <a:r>
              <a:rPr sz="1000" b="0" i="0">
                <a:solidFill>
                  <a:srgbClr val="4A5260"/>
                </a:solidFill>
                <a:latin typeface="Segoe UI"/>
              </a:rPr>
              <a:t>AI-Powered Allergen Detection  |  AR Glasses · Edge AI · Multipath QUIC</a:t>
            </a:r>
          </a:p>
        </p:txBody>
      </p:sp>
      <p:sp>
        <p:nvSpPr>
          <p:cNvPr id="9" name="TextBox 8"/>
          <p:cNvSpPr txBox="1"/>
          <p:nvPr/>
        </p:nvSpPr>
        <p:spPr>
          <a:xfrm>
            <a:off x="10881360" y="6510528"/>
            <a:ext cx="822960" cy="274320"/>
          </a:xfrm>
          <a:prstGeom prst="rect">
            <a:avLst/>
          </a:prstGeom>
          <a:noFill/>
        </p:spPr>
        <p:txBody>
          <a:bodyPr wrap="square" lIns="0" tIns="0" rIns="0" bIns="0" anchor="t">
            <a:spAutoFit/>
          </a:bodyPr>
          <a:lstStyle/>
          <a:p>
            <a:pPr algn="r">
              <a:spcAft>
                <a:spcPts val="600"/>
              </a:spcAft>
            </a:pPr>
            <a:r>
              <a:rPr sz="1000" b="0" i="0">
                <a:solidFill>
                  <a:srgbClr val="4A5260"/>
                </a:solidFill>
                <a:latin typeface="Segoe UI"/>
              </a:rPr>
              <a:t>2 / 7</a:t>
            </a:r>
          </a:p>
        </p:txBody>
      </p:sp>
      <p:sp>
        <p:nvSpPr>
          <p:cNvPr id="10" name="Rectangle 9"/>
          <p:cNvSpPr/>
          <p:nvPr/>
        </p:nvSpPr>
        <p:spPr>
          <a:xfrm>
            <a:off x="548640" y="6419088"/>
            <a:ext cx="11091672" cy="12700"/>
          </a:xfrm>
          <a:prstGeom prst="rect">
            <a:avLst/>
          </a:prstGeom>
          <a:solidFill>
            <a:srgbClr val="DC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457200"/>
            <a:ext cx="128016" cy="777240"/>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384048"/>
            <a:ext cx="10698480" cy="320040"/>
          </a:xfrm>
          <a:prstGeom prst="rect">
            <a:avLst/>
          </a:prstGeom>
          <a:noFill/>
        </p:spPr>
        <p:txBody>
          <a:bodyPr wrap="square" lIns="0" tIns="0" rIns="0" bIns="0" anchor="t">
            <a:spAutoFit/>
          </a:bodyPr>
          <a:lstStyle/>
          <a:p>
            <a:pPr algn="l">
              <a:spcAft>
                <a:spcPts val="600"/>
              </a:spcAft>
            </a:pPr>
            <a:r>
              <a:rPr sz="1300" b="1" i="0">
                <a:solidFill>
                  <a:srgbClr val="0B63CE"/>
                </a:solidFill>
                <a:latin typeface="Segoe UI"/>
              </a:rPr>
              <a:t>SOLUTION</a:t>
            </a:r>
          </a:p>
        </p:txBody>
      </p:sp>
      <p:sp>
        <p:nvSpPr>
          <p:cNvPr id="5" name="TextBox 4"/>
          <p:cNvSpPr txBox="1"/>
          <p:nvPr/>
        </p:nvSpPr>
        <p:spPr>
          <a:xfrm>
            <a:off x="868680" y="658368"/>
            <a:ext cx="10698480" cy="685800"/>
          </a:xfrm>
          <a:prstGeom prst="rect">
            <a:avLst/>
          </a:prstGeom>
          <a:noFill/>
        </p:spPr>
        <p:txBody>
          <a:bodyPr wrap="square" lIns="0" tIns="0" rIns="0" bIns="0" anchor="t">
            <a:spAutoFit/>
          </a:bodyPr>
          <a:lstStyle/>
          <a:p>
            <a:pPr algn="l">
              <a:spcAft>
                <a:spcPts val="600"/>
              </a:spcAft>
            </a:pPr>
            <a:r>
              <a:rPr sz="3000" b="1" i="0">
                <a:solidFill>
                  <a:srgbClr val="1A1E27"/>
                </a:solidFill>
                <a:latin typeface="Segoe UI Semibold"/>
              </a:rPr>
              <a:t>One Phone-Based AI Agent, Two Inference Paths</a:t>
            </a:r>
          </a:p>
        </p:txBody>
      </p:sp>
      <p:sp>
        <p:nvSpPr>
          <p:cNvPr id="6" name="TextBox 5"/>
          <p:cNvSpPr txBox="1"/>
          <p:nvPr/>
        </p:nvSpPr>
        <p:spPr>
          <a:xfrm>
            <a:off x="868680" y="1417320"/>
            <a:ext cx="10515600" cy="502920"/>
          </a:xfrm>
          <a:prstGeom prst="rect">
            <a:avLst/>
          </a:prstGeom>
          <a:noFill/>
        </p:spPr>
        <p:txBody>
          <a:bodyPr wrap="square" lIns="0" tIns="0" rIns="0" bIns="0" anchor="t">
            <a:spAutoFit/>
          </a:bodyPr>
          <a:lstStyle/>
          <a:p>
            <a:pPr algn="l">
              <a:spcAft>
                <a:spcPts val="600"/>
              </a:spcAft>
            </a:pPr>
            <a:r>
              <a:rPr sz="1600" b="0" i="0">
                <a:solidFill>
                  <a:srgbClr val="4A5260"/>
                </a:solidFill>
                <a:latin typeface="Segoe UI"/>
              </a:rPr>
              <a:t>Local first, cloud when needed — same user experience either way. The phone decides, not the person.</a:t>
            </a:r>
          </a:p>
        </p:txBody>
      </p:sp>
      <p:sp>
        <p:nvSpPr>
          <p:cNvPr id="7" name="Rounded Rectangle 6"/>
          <p:cNvSpPr/>
          <p:nvPr/>
        </p:nvSpPr>
        <p:spPr>
          <a:xfrm>
            <a:off x="640080" y="2286000"/>
            <a:ext cx="2148840" cy="1371600"/>
          </a:xfrm>
          <a:prstGeom prst="roundRect">
            <a:avLst>
              <a:gd name="adj" fmla="val 12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lIns="127000" rIns="127000" rtlCol="0" anchor="ctr"/>
          <a:lstStyle/>
          <a:p>
            <a:pPr algn="ctr">
              <a:spcAft>
                <a:spcPts val="400"/>
              </a:spcAft>
            </a:pPr>
            <a:r>
              <a:rPr sz="1400" b="1" i="0">
                <a:solidFill>
                  <a:srgbClr val="1A1E27"/>
                </a:solidFill>
                <a:latin typeface="Segoe UI"/>
              </a:rPr>
              <a:t>RayNeo AR Glasses</a:t>
            </a:r>
          </a:p>
          <a:p>
            <a:pPr algn="ctr">
              <a:spcAft>
                <a:spcPts val="600"/>
              </a:spcAft>
            </a:pPr>
            <a:r>
              <a:rPr sz="1150" b="0" i="0">
                <a:solidFill>
                  <a:srgbClr val="4A5260"/>
                </a:solidFill>
                <a:latin typeface="Segoe UI"/>
              </a:rPr>
              <a:t>Capture image + voice</a:t>
            </a:r>
          </a:p>
        </p:txBody>
      </p:sp>
      <p:cxnSp>
        <p:nvCxnSpPr>
          <p:cNvPr id="8" name="Connector 7"/>
          <p:cNvCxnSpPr/>
          <p:nvPr/>
        </p:nvCxnSpPr>
        <p:spPr>
          <a:xfrm>
            <a:off x="2788920" y="2971800"/>
            <a:ext cx="457200" cy="0"/>
          </a:xfrm>
          <a:prstGeom prst="line">
            <a:avLst/>
          </a:prstGeom>
          <a:ln w="28575">
            <a:solidFill>
              <a:srgbClr val="0B63C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246120" y="2286000"/>
            <a:ext cx="2331720" cy="1371600"/>
          </a:xfrm>
          <a:prstGeom prst="roundRect">
            <a:avLst>
              <a:gd name="adj" fmla="val 12000"/>
            </a:avLst>
          </a:prstGeom>
          <a:solidFill>
            <a:srgbClr val="E9F2FC"/>
          </a:solidFill>
          <a:ln w="15875">
            <a:solidFill>
              <a:srgbClr val="0B63CE"/>
            </a:solidFill>
          </a:ln>
          <a:effectLst/>
        </p:spPr>
        <p:style>
          <a:lnRef idx="1">
            <a:schemeClr val="accent1"/>
          </a:lnRef>
          <a:fillRef idx="3">
            <a:schemeClr val="accent1"/>
          </a:fillRef>
          <a:effectRef idx="2">
            <a:schemeClr val="accent1"/>
          </a:effectRef>
          <a:fontRef idx="minor">
            <a:schemeClr val="lt1"/>
          </a:fontRef>
        </p:style>
        <p:txBody>
          <a:bodyPr wrap="square" lIns="127000" rIns="127000" rtlCol="0" anchor="ctr"/>
          <a:lstStyle/>
          <a:p>
            <a:pPr algn="ctr">
              <a:spcAft>
                <a:spcPts val="400"/>
              </a:spcAft>
            </a:pPr>
            <a:r>
              <a:rPr sz="1400" b="1" i="0">
                <a:solidFill>
                  <a:srgbClr val="1A1E27"/>
                </a:solidFill>
                <a:latin typeface="Segoe UI"/>
              </a:rPr>
              <a:t>Samsung S25 Ultra</a:t>
            </a:r>
          </a:p>
          <a:p>
            <a:pPr algn="ctr">
              <a:spcAft>
                <a:spcPts val="600"/>
              </a:spcAft>
            </a:pPr>
            <a:r>
              <a:rPr sz="1150" b="0" i="0">
                <a:solidFill>
                  <a:srgbClr val="083D82"/>
                </a:solidFill>
                <a:latin typeface="Segoe UI"/>
              </a:rPr>
              <a:t>Orchestration agent decides: local or cloud?</a:t>
            </a:r>
          </a:p>
        </p:txBody>
      </p:sp>
      <p:cxnSp>
        <p:nvCxnSpPr>
          <p:cNvPr id="10" name="Connector 9"/>
          <p:cNvCxnSpPr/>
          <p:nvPr/>
        </p:nvCxnSpPr>
        <p:spPr>
          <a:xfrm>
            <a:off x="5577840" y="2971800"/>
            <a:ext cx="457200" cy="0"/>
          </a:xfrm>
          <a:prstGeom prst="line">
            <a:avLst/>
          </a:prstGeom>
          <a:ln w="28575">
            <a:solidFill>
              <a:srgbClr val="0B63C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035040" y="2286000"/>
            <a:ext cx="2651760" cy="658368"/>
          </a:xfrm>
          <a:prstGeom prst="roundRect">
            <a:avLst>
              <a:gd name="adj" fmla="val 15000"/>
            </a:avLst>
          </a:prstGeom>
          <a:solidFill>
            <a:srgbClr val="EEF7F1"/>
          </a:solidFill>
          <a:ln w="12700">
            <a:solidFill>
              <a:srgbClr val="1E7A4C"/>
            </a:solidFill>
          </a:ln>
          <a:effectLst/>
        </p:spPr>
        <p:style>
          <a:lnRef idx="1">
            <a:schemeClr val="accent1"/>
          </a:lnRef>
          <a:fillRef idx="3">
            <a:schemeClr val="accent1"/>
          </a:fillRef>
          <a:effectRef idx="2">
            <a:schemeClr val="accent1"/>
          </a:effectRef>
          <a:fontRef idx="minor">
            <a:schemeClr val="lt1"/>
          </a:fontRef>
        </p:style>
        <p:txBody>
          <a:bodyPr wrap="square" lIns="101600" rtlCol="0" anchor="ctr"/>
          <a:lstStyle/>
          <a:p>
            <a:pPr algn="ctr">
              <a:spcAft>
                <a:spcPts val="600"/>
              </a:spcAft>
            </a:pPr>
            <a:r>
              <a:rPr sz="1250" b="1" i="0">
                <a:solidFill>
                  <a:srgbClr val="1E7A4C"/>
                </a:solidFill>
                <a:latin typeface="Segoe UI"/>
              </a:rPr>
              <a:t>Local · Snapdragon X Elite</a:t>
            </a:r>
          </a:p>
        </p:txBody>
      </p:sp>
      <p:sp>
        <p:nvSpPr>
          <p:cNvPr id="12" name="Rounded Rectangle 11"/>
          <p:cNvSpPr/>
          <p:nvPr/>
        </p:nvSpPr>
        <p:spPr>
          <a:xfrm>
            <a:off x="6035040" y="2999232"/>
            <a:ext cx="2651760" cy="658368"/>
          </a:xfrm>
          <a:prstGeom prst="roundRect">
            <a:avLst>
              <a:gd name="adj" fmla="val 15000"/>
            </a:avLst>
          </a:prstGeom>
          <a:solidFill>
            <a:srgbClr val="FCF2E6"/>
          </a:solidFill>
          <a:ln w="12700">
            <a:solidFill>
              <a:srgbClr val="B56A0A"/>
            </a:solidFill>
          </a:ln>
          <a:effectLst/>
        </p:spPr>
        <p:style>
          <a:lnRef idx="1">
            <a:schemeClr val="accent1"/>
          </a:lnRef>
          <a:fillRef idx="3">
            <a:schemeClr val="accent1"/>
          </a:fillRef>
          <a:effectRef idx="2">
            <a:schemeClr val="accent1"/>
          </a:effectRef>
          <a:fontRef idx="minor">
            <a:schemeClr val="lt1"/>
          </a:fontRef>
        </p:style>
        <p:txBody>
          <a:bodyPr wrap="square" lIns="101600" rtlCol="0" anchor="ctr"/>
          <a:lstStyle/>
          <a:p>
            <a:pPr algn="ctr">
              <a:spcAft>
                <a:spcPts val="600"/>
              </a:spcAft>
            </a:pPr>
            <a:r>
              <a:rPr sz="1250" b="1" i="0">
                <a:solidFill>
                  <a:srgbClr val="B56A0A"/>
                </a:solidFill>
                <a:latin typeface="Segoe UI"/>
              </a:rPr>
              <a:t>Cloud · AWS EC2</a:t>
            </a:r>
          </a:p>
        </p:txBody>
      </p:sp>
      <p:cxnSp>
        <p:nvCxnSpPr>
          <p:cNvPr id="13" name="Connector 12"/>
          <p:cNvCxnSpPr/>
          <p:nvPr/>
        </p:nvCxnSpPr>
        <p:spPr>
          <a:xfrm>
            <a:off x="8686800" y="2971800"/>
            <a:ext cx="457200" cy="0"/>
          </a:xfrm>
          <a:prstGeom prst="line">
            <a:avLst/>
          </a:prstGeom>
          <a:ln w="28575">
            <a:solidFill>
              <a:srgbClr val="0B63C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144000" y="2286000"/>
            <a:ext cx="1828800" cy="1371600"/>
          </a:xfrm>
          <a:prstGeom prst="roundRect">
            <a:avLst>
              <a:gd name="adj" fmla="val 12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lIns="127000" rIns="127000" rtlCol="0" anchor="ctr"/>
          <a:lstStyle/>
          <a:p>
            <a:pPr algn="ctr">
              <a:spcAft>
                <a:spcPts val="400"/>
              </a:spcAft>
            </a:pPr>
            <a:r>
              <a:rPr sz="1400" b="1" i="0">
                <a:solidFill>
                  <a:srgbClr val="1A1E27"/>
                </a:solidFill>
                <a:latin typeface="Segoe UI"/>
              </a:rPr>
              <a:t>AR Response</a:t>
            </a:r>
          </a:p>
          <a:p>
            <a:pPr algn="ctr">
              <a:spcAft>
                <a:spcPts val="600"/>
              </a:spcAft>
            </a:pPr>
            <a:r>
              <a:rPr sz="1150" b="0" i="0">
                <a:solidFill>
                  <a:srgbClr val="4A5260"/>
                </a:solidFill>
                <a:latin typeface="Segoe UI"/>
              </a:rPr>
              <a:t>Safety answer, in view</a:t>
            </a:r>
          </a:p>
        </p:txBody>
      </p:sp>
      <p:sp>
        <p:nvSpPr>
          <p:cNvPr id="15" name="TextBox 14"/>
          <p:cNvSpPr txBox="1"/>
          <p:nvPr/>
        </p:nvSpPr>
        <p:spPr>
          <a:xfrm>
            <a:off x="868680" y="3977639"/>
            <a:ext cx="10424160" cy="365760"/>
          </a:xfrm>
          <a:prstGeom prst="rect">
            <a:avLst/>
          </a:prstGeom>
          <a:noFill/>
        </p:spPr>
        <p:txBody>
          <a:bodyPr wrap="square" lIns="0" tIns="0" rIns="0" bIns="0" anchor="t">
            <a:spAutoFit/>
          </a:bodyPr>
          <a:lstStyle/>
          <a:p>
            <a:pPr algn="l">
              <a:spcAft>
                <a:spcPts val="600"/>
              </a:spcAft>
            </a:pPr>
            <a:r>
              <a:rPr sz="1350" b="0" i="1">
                <a:solidFill>
                  <a:srgbClr val="4A5260"/>
                </a:solidFill>
                <a:latin typeface="Segoe UI"/>
              </a:rPr>
              <a:t>mDNS discovery on the LAN decides local-vs-cloud automatically — no visible mode switch for the user.</a:t>
            </a:r>
          </a:p>
        </p:txBody>
      </p:sp>
      <p:sp>
        <p:nvSpPr>
          <p:cNvPr id="16" name="Rounded Rectangle 15"/>
          <p:cNvSpPr/>
          <p:nvPr/>
        </p:nvSpPr>
        <p:spPr>
          <a:xfrm>
            <a:off x="868680" y="4572000"/>
            <a:ext cx="10424160" cy="1234440"/>
          </a:xfrm>
          <a:prstGeom prst="roundRect">
            <a:avLst>
              <a:gd name="adj" fmla="val 10000"/>
            </a:avLst>
          </a:prstGeom>
          <a:solidFill>
            <a:srgbClr val="E9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0" y="4718304"/>
            <a:ext cx="9966960" cy="960120"/>
          </a:xfrm>
          <a:prstGeom prst="rect">
            <a:avLst/>
          </a:prstGeom>
          <a:noFill/>
        </p:spPr>
        <p:txBody>
          <a:bodyPr wrap="square" lIns="0" tIns="0" rIns="0" bIns="0" anchor="t">
            <a:spAutoFit/>
          </a:bodyPr>
          <a:lstStyle/>
          <a:p>
            <a:pPr algn="l">
              <a:spcAft>
                <a:spcPts val="300"/>
              </a:spcAft>
            </a:pPr>
            <a:r>
              <a:rPr sz="1100" b="1" i="0">
                <a:solidFill>
                  <a:srgbClr val="083D82"/>
                </a:solidFill>
                <a:latin typeface="Segoe UI"/>
              </a:rPr>
              <a:t>HOW IT WORKS</a:t>
            </a:r>
          </a:p>
          <a:p>
            <a:pPr algn="l">
              <a:spcAft>
                <a:spcPts val="600"/>
              </a:spcAft>
            </a:pPr>
            <a:r>
              <a:rPr sz="1400" b="0" i="0">
                <a:solidFill>
                  <a:srgbClr val="1A1E27"/>
                </a:solidFill>
                <a:latin typeface="Segoe UI"/>
              </a:rPr>
              <a:t>RayNeo AR glasses capture the food image and spoken question, relay to a Samsung Galaxy S25 Ultra, whose on-device agent tries a nearby Snapdragon X Elite PC first via automatic network discovery, and only falls back to AWS cloud if no local host answers.</a:t>
            </a:r>
          </a:p>
        </p:txBody>
      </p:sp>
      <p:sp>
        <p:nvSpPr>
          <p:cNvPr id="18" name="TextBox 17"/>
          <p:cNvSpPr txBox="1"/>
          <p:nvPr/>
        </p:nvSpPr>
        <p:spPr>
          <a:xfrm>
            <a:off x="548640" y="6510528"/>
            <a:ext cx="7315200" cy="274320"/>
          </a:xfrm>
          <a:prstGeom prst="rect">
            <a:avLst/>
          </a:prstGeom>
          <a:noFill/>
        </p:spPr>
        <p:txBody>
          <a:bodyPr wrap="square" lIns="0" tIns="0" rIns="0" bIns="0" anchor="t">
            <a:spAutoFit/>
          </a:bodyPr>
          <a:lstStyle/>
          <a:p>
            <a:pPr algn="l">
              <a:spcAft>
                <a:spcPts val="600"/>
              </a:spcAft>
            </a:pPr>
            <a:r>
              <a:rPr sz="1000" b="0" i="0">
                <a:solidFill>
                  <a:srgbClr val="4A5260"/>
                </a:solidFill>
                <a:latin typeface="Segoe UI"/>
              </a:rPr>
              <a:t>AI-Powered Allergen Detection  |  AR Glasses · Edge AI · Multipath QUIC</a:t>
            </a:r>
          </a:p>
        </p:txBody>
      </p:sp>
      <p:sp>
        <p:nvSpPr>
          <p:cNvPr id="19" name="TextBox 18"/>
          <p:cNvSpPr txBox="1"/>
          <p:nvPr/>
        </p:nvSpPr>
        <p:spPr>
          <a:xfrm>
            <a:off x="10881360" y="6510528"/>
            <a:ext cx="822960" cy="274320"/>
          </a:xfrm>
          <a:prstGeom prst="rect">
            <a:avLst/>
          </a:prstGeom>
          <a:noFill/>
        </p:spPr>
        <p:txBody>
          <a:bodyPr wrap="square" lIns="0" tIns="0" rIns="0" bIns="0" anchor="t">
            <a:spAutoFit/>
          </a:bodyPr>
          <a:lstStyle/>
          <a:p>
            <a:pPr algn="r">
              <a:spcAft>
                <a:spcPts val="600"/>
              </a:spcAft>
            </a:pPr>
            <a:r>
              <a:rPr sz="1000" b="0" i="0">
                <a:solidFill>
                  <a:srgbClr val="4A5260"/>
                </a:solidFill>
                <a:latin typeface="Segoe UI"/>
              </a:rPr>
              <a:t>3 / 7</a:t>
            </a:r>
          </a:p>
        </p:txBody>
      </p:sp>
      <p:sp>
        <p:nvSpPr>
          <p:cNvPr id="20" name="Rectangle 19"/>
          <p:cNvSpPr/>
          <p:nvPr/>
        </p:nvSpPr>
        <p:spPr>
          <a:xfrm>
            <a:off x="548640" y="6419088"/>
            <a:ext cx="11091672" cy="12700"/>
          </a:xfrm>
          <a:prstGeom prst="rect">
            <a:avLst/>
          </a:prstGeom>
          <a:solidFill>
            <a:srgbClr val="DC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457200"/>
            <a:ext cx="128016" cy="777240"/>
          </a:xfrm>
          <a:prstGeom prst="rect">
            <a:avLst/>
          </a:prstGeom>
          <a:solidFill>
            <a:srgbClr val="1E7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384048"/>
            <a:ext cx="10698480" cy="320040"/>
          </a:xfrm>
          <a:prstGeom prst="rect">
            <a:avLst/>
          </a:prstGeom>
          <a:noFill/>
        </p:spPr>
        <p:txBody>
          <a:bodyPr wrap="square" lIns="0" tIns="0" rIns="0" bIns="0" anchor="t">
            <a:spAutoFit/>
          </a:bodyPr>
          <a:lstStyle/>
          <a:p>
            <a:pPr algn="l">
              <a:spcAft>
                <a:spcPts val="600"/>
              </a:spcAft>
            </a:pPr>
            <a:r>
              <a:rPr sz="1300" b="1" i="0">
                <a:solidFill>
                  <a:srgbClr val="1E7A4C"/>
                </a:solidFill>
                <a:latin typeface="Segoe UI"/>
              </a:rPr>
              <a:t>EDGE AI</a:t>
            </a:r>
          </a:p>
        </p:txBody>
      </p:sp>
      <p:sp>
        <p:nvSpPr>
          <p:cNvPr id="5" name="TextBox 4"/>
          <p:cNvSpPr txBox="1"/>
          <p:nvPr/>
        </p:nvSpPr>
        <p:spPr>
          <a:xfrm>
            <a:off x="868680" y="658368"/>
            <a:ext cx="10698480" cy="685800"/>
          </a:xfrm>
          <a:prstGeom prst="rect">
            <a:avLst/>
          </a:prstGeom>
          <a:noFill/>
        </p:spPr>
        <p:txBody>
          <a:bodyPr wrap="square" lIns="0" tIns="0" rIns="0" bIns="0" anchor="t">
            <a:spAutoFit/>
          </a:bodyPr>
          <a:lstStyle/>
          <a:p>
            <a:pPr algn="l">
              <a:spcAft>
                <a:spcPts val="600"/>
              </a:spcAft>
            </a:pPr>
            <a:r>
              <a:rPr sz="3000" b="1" i="0">
                <a:solidFill>
                  <a:srgbClr val="1A1E27"/>
                </a:solidFill>
                <a:latin typeface="Segoe UI Semibold"/>
              </a:rPr>
              <a:t>Snapdragon X Elite + LM Studio</a:t>
            </a:r>
          </a:p>
        </p:txBody>
      </p:sp>
      <p:sp>
        <p:nvSpPr>
          <p:cNvPr id="6" name="TextBox 5"/>
          <p:cNvSpPr txBox="1"/>
          <p:nvPr/>
        </p:nvSpPr>
        <p:spPr>
          <a:xfrm>
            <a:off x="868680" y="1417320"/>
            <a:ext cx="10515600" cy="502920"/>
          </a:xfrm>
          <a:prstGeom prst="rect">
            <a:avLst/>
          </a:prstGeom>
          <a:noFill/>
        </p:spPr>
        <p:txBody>
          <a:bodyPr wrap="square" lIns="0" tIns="0" rIns="0" bIns="0" anchor="t">
            <a:spAutoFit/>
          </a:bodyPr>
          <a:lstStyle/>
          <a:p>
            <a:pPr algn="l">
              <a:spcAft>
                <a:spcPts val="600"/>
              </a:spcAft>
            </a:pPr>
            <a:r>
              <a:rPr sz="1600" b="0" i="0">
                <a:solidFill>
                  <a:srgbClr val="4A5260"/>
                </a:solidFill>
                <a:latin typeface="Segoe UI"/>
              </a:rPr>
              <a:t>On-device inference — Qwen3-VL:4B running locally via LM Studio, no cloud round-trip required.</a:t>
            </a:r>
          </a:p>
        </p:txBody>
      </p:sp>
      <p:sp>
        <p:nvSpPr>
          <p:cNvPr id="7" name="Rounded Rectangle 6"/>
          <p:cNvSpPr/>
          <p:nvPr/>
        </p:nvSpPr>
        <p:spPr>
          <a:xfrm>
            <a:off x="868680" y="2103120"/>
            <a:ext cx="5074920" cy="1965960"/>
          </a:xfrm>
          <a:prstGeom prst="roundRect">
            <a:avLst>
              <a:gd name="adj" fmla="val 8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8680" y="2103120"/>
            <a:ext cx="5074920" cy="73152"/>
          </a:xfrm>
          <a:prstGeom prst="rect">
            <a:avLst/>
          </a:prstGeom>
          <a:solidFill>
            <a:srgbClr val="1E7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9848" y="2304288"/>
            <a:ext cx="4672584" cy="1600200"/>
          </a:xfrm>
          <a:prstGeom prst="rect">
            <a:avLst/>
          </a:prstGeom>
          <a:noFill/>
        </p:spPr>
        <p:txBody>
          <a:bodyPr wrap="square" lIns="0" tIns="0" rIns="0" bIns="0" anchor="t">
            <a:spAutoFit/>
          </a:bodyPr>
          <a:lstStyle/>
          <a:p>
            <a:pPr algn="l">
              <a:spcAft>
                <a:spcPts val="800"/>
              </a:spcAft>
            </a:pPr>
            <a:r>
              <a:rPr sz="1500" b="1" i="0">
                <a:solidFill>
                  <a:srgbClr val="1A1E27"/>
                </a:solidFill>
                <a:latin typeface="Segoe UI Semibold"/>
              </a:rPr>
              <a:t>What happens on-device</a:t>
            </a:r>
          </a:p>
          <a:p>
            <a:pPr algn="l">
              <a:spcAft>
                <a:spcPts val="500"/>
              </a:spcAft>
            </a:pPr>
            <a:r>
              <a:rPr sz="1250" b="0" i="0">
                <a:solidFill>
                  <a:srgbClr val="4A5260"/>
                </a:solidFill>
                <a:latin typeface="Segoe UI"/>
              </a:rPr>
              <a:t>•  Identifies food items in the captured image</a:t>
            </a:r>
          </a:p>
          <a:p>
            <a:pPr algn="l">
              <a:spcAft>
                <a:spcPts val="500"/>
              </a:spcAft>
            </a:pPr>
            <a:r>
              <a:rPr sz="1250" b="0" i="0">
                <a:solidFill>
                  <a:srgbClr val="4A5260"/>
                </a:solidFill>
                <a:latin typeface="Segoe UI"/>
              </a:rPr>
              <a:t>•  Infers likely ingredients from what it sees</a:t>
            </a:r>
          </a:p>
          <a:p>
            <a:pPr algn="l">
              <a:spcAft>
                <a:spcPts val="500"/>
              </a:spcAft>
            </a:pPr>
            <a:r>
              <a:rPr sz="1250" b="0" i="0">
                <a:solidFill>
                  <a:srgbClr val="4A5260"/>
                </a:solidFill>
                <a:latin typeface="Segoe UI"/>
              </a:rPr>
              <a:t>•  Flags matches against the 9 allergen categories</a:t>
            </a:r>
          </a:p>
          <a:p>
            <a:pPr algn="l">
              <a:spcAft>
                <a:spcPts val="500"/>
              </a:spcAft>
            </a:pPr>
            <a:r>
              <a:rPr sz="1250" b="0" i="0">
                <a:solidFill>
                  <a:srgbClr val="4A5260"/>
                </a:solidFill>
                <a:latin typeface="Segoe UI"/>
              </a:rPr>
              <a:t>•  Returns a result without leaving the device or LAN</a:t>
            </a:r>
          </a:p>
        </p:txBody>
      </p:sp>
      <p:sp>
        <p:nvSpPr>
          <p:cNvPr id="10" name="Rounded Rectangle 9"/>
          <p:cNvSpPr/>
          <p:nvPr/>
        </p:nvSpPr>
        <p:spPr>
          <a:xfrm>
            <a:off x="6172200" y="2103120"/>
            <a:ext cx="5120640" cy="1965960"/>
          </a:xfrm>
          <a:prstGeom prst="roundRect">
            <a:avLst>
              <a:gd name="adj" fmla="val 8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2103120"/>
            <a:ext cx="5120640" cy="73152"/>
          </a:xfrm>
          <a:prstGeom prst="rect">
            <a:avLst/>
          </a:prstGeom>
          <a:solidFill>
            <a:srgbClr val="1E7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73368" y="2304288"/>
            <a:ext cx="4718304" cy="1600200"/>
          </a:xfrm>
          <a:prstGeom prst="rect">
            <a:avLst/>
          </a:prstGeom>
          <a:noFill/>
        </p:spPr>
        <p:txBody>
          <a:bodyPr wrap="square" lIns="0" tIns="0" rIns="0" bIns="0" anchor="t">
            <a:spAutoFit/>
          </a:bodyPr>
          <a:lstStyle/>
          <a:p>
            <a:pPr algn="l">
              <a:spcAft>
                <a:spcPts val="800"/>
              </a:spcAft>
            </a:pPr>
            <a:r>
              <a:rPr sz="1500" b="1" i="0">
                <a:solidFill>
                  <a:srgbClr val="1A1E27"/>
                </a:solidFill>
                <a:latin typeface="Segoe UI Semibold"/>
              </a:rPr>
              <a:t>Benefits</a:t>
            </a:r>
          </a:p>
          <a:p>
            <a:pPr algn="l">
              <a:spcAft>
                <a:spcPts val="500"/>
              </a:spcAft>
            </a:pPr>
            <a:r>
              <a:rPr sz="1250" b="0" i="0">
                <a:solidFill>
                  <a:srgbClr val="4A5260"/>
                </a:solidFill>
                <a:latin typeface="Segoe UI"/>
              </a:rPr>
              <a:t>•  Privacy — image data never leaves the LAN</a:t>
            </a:r>
          </a:p>
          <a:p>
            <a:pPr algn="l">
              <a:spcAft>
                <a:spcPts val="500"/>
              </a:spcAft>
            </a:pPr>
            <a:r>
              <a:rPr sz="1250" b="0" i="0">
                <a:solidFill>
                  <a:srgbClr val="4A5260"/>
                </a:solidFill>
                <a:latin typeface="Segoe UI"/>
              </a:rPr>
              <a:t>•  Cost — no per-inference cloud spend</a:t>
            </a:r>
          </a:p>
          <a:p>
            <a:pPr algn="l">
              <a:spcAft>
                <a:spcPts val="500"/>
              </a:spcAft>
            </a:pPr>
            <a:r>
              <a:rPr sz="1250" b="0" i="0">
                <a:solidFill>
                  <a:srgbClr val="4A5260"/>
                </a:solidFill>
                <a:latin typeface="Segoe UI"/>
              </a:rPr>
              <a:t>•  Speed — sub-second response target</a:t>
            </a:r>
          </a:p>
          <a:p>
            <a:pPr algn="l">
              <a:spcAft>
                <a:spcPts val="500"/>
              </a:spcAft>
            </a:pPr>
            <a:r>
              <a:rPr sz="1250" b="0" i="0">
                <a:solidFill>
                  <a:srgbClr val="4A5260"/>
                </a:solidFill>
                <a:latin typeface="Segoe UI"/>
              </a:rPr>
              <a:t>•  Offline — works with zero internet connectivity</a:t>
            </a:r>
          </a:p>
        </p:txBody>
      </p:sp>
      <p:sp>
        <p:nvSpPr>
          <p:cNvPr id="13" name="Rounded Rectangle 12"/>
          <p:cNvSpPr/>
          <p:nvPr/>
        </p:nvSpPr>
        <p:spPr>
          <a:xfrm>
            <a:off x="868680" y="4297680"/>
            <a:ext cx="10424160" cy="1234440"/>
          </a:xfrm>
          <a:prstGeom prst="roundRect">
            <a:avLst>
              <a:gd name="adj" fmla="val 10000"/>
            </a:avLst>
          </a:prstGeom>
          <a:solidFill>
            <a:srgbClr val="FCF2E6"/>
          </a:solidFill>
          <a:ln w="12700">
            <a:solidFill>
              <a:srgbClr val="B56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4434840"/>
            <a:ext cx="10058400" cy="1005840"/>
          </a:xfrm>
          <a:prstGeom prst="rect">
            <a:avLst/>
          </a:prstGeom>
          <a:noFill/>
        </p:spPr>
        <p:txBody>
          <a:bodyPr wrap="square" lIns="0" tIns="0" rIns="0" bIns="0" anchor="t">
            <a:spAutoFit/>
          </a:bodyPr>
          <a:lstStyle/>
          <a:p>
            <a:pPr algn="l">
              <a:spcAft>
                <a:spcPts val="400"/>
              </a:spcAft>
            </a:pPr>
            <a:r>
              <a:rPr sz="1150" b="1" i="0">
                <a:solidFill>
                  <a:srgbClr val="B56A0A"/>
                </a:solidFill>
                <a:latin typeface="Segoe UI"/>
              </a:rPr>
              <a:t>HONEST NOTE</a:t>
            </a:r>
          </a:p>
          <a:p>
            <a:pPr algn="l">
              <a:spcAft>
                <a:spcPts val="600"/>
              </a:spcAft>
            </a:pPr>
            <a:r>
              <a:rPr sz="1350" b="0" i="0">
                <a:solidFill>
                  <a:srgbClr val="1A1E27"/>
                </a:solidFill>
                <a:latin typeface="Segoe UI"/>
              </a:rPr>
              <a:t>In the current build, LM Studio on X Elite runs this inference on CPU — NPU/GPU acceleration isn't wired up yet. That's the clear next optimization. The win today is architectural: local-first still means zero image data leaves the LAN, no cloud cost, and full offline operation.</a:t>
            </a:r>
          </a:p>
        </p:txBody>
      </p:sp>
      <p:sp>
        <p:nvSpPr>
          <p:cNvPr id="15" name="TextBox 14"/>
          <p:cNvSpPr txBox="1"/>
          <p:nvPr/>
        </p:nvSpPr>
        <p:spPr>
          <a:xfrm>
            <a:off x="548640" y="6510528"/>
            <a:ext cx="7315200" cy="274320"/>
          </a:xfrm>
          <a:prstGeom prst="rect">
            <a:avLst/>
          </a:prstGeom>
          <a:noFill/>
        </p:spPr>
        <p:txBody>
          <a:bodyPr wrap="square" lIns="0" tIns="0" rIns="0" bIns="0" anchor="t">
            <a:spAutoFit/>
          </a:bodyPr>
          <a:lstStyle/>
          <a:p>
            <a:pPr algn="l">
              <a:spcAft>
                <a:spcPts val="600"/>
              </a:spcAft>
            </a:pPr>
            <a:r>
              <a:rPr sz="1000" b="0" i="0">
                <a:solidFill>
                  <a:srgbClr val="4A5260"/>
                </a:solidFill>
                <a:latin typeface="Segoe UI"/>
              </a:rPr>
              <a:t>AI-Powered Allergen Detection  |  AR Glasses · Edge AI · Multipath QUIC</a:t>
            </a:r>
          </a:p>
        </p:txBody>
      </p:sp>
      <p:sp>
        <p:nvSpPr>
          <p:cNvPr id="16" name="TextBox 15"/>
          <p:cNvSpPr txBox="1"/>
          <p:nvPr/>
        </p:nvSpPr>
        <p:spPr>
          <a:xfrm>
            <a:off x="10881360" y="6510528"/>
            <a:ext cx="822960" cy="274320"/>
          </a:xfrm>
          <a:prstGeom prst="rect">
            <a:avLst/>
          </a:prstGeom>
          <a:noFill/>
        </p:spPr>
        <p:txBody>
          <a:bodyPr wrap="square" lIns="0" tIns="0" rIns="0" bIns="0" anchor="t">
            <a:spAutoFit/>
          </a:bodyPr>
          <a:lstStyle/>
          <a:p>
            <a:pPr algn="r">
              <a:spcAft>
                <a:spcPts val="600"/>
              </a:spcAft>
            </a:pPr>
            <a:r>
              <a:rPr sz="1000" b="0" i="0">
                <a:solidFill>
                  <a:srgbClr val="4A5260"/>
                </a:solidFill>
                <a:latin typeface="Segoe UI"/>
              </a:rPr>
              <a:t>4 / 7</a:t>
            </a:r>
          </a:p>
        </p:txBody>
      </p:sp>
      <p:sp>
        <p:nvSpPr>
          <p:cNvPr id="17" name="Rectangle 16"/>
          <p:cNvSpPr/>
          <p:nvPr/>
        </p:nvSpPr>
        <p:spPr>
          <a:xfrm>
            <a:off x="548640" y="6419088"/>
            <a:ext cx="11091672" cy="12700"/>
          </a:xfrm>
          <a:prstGeom prst="rect">
            <a:avLst/>
          </a:prstGeom>
          <a:solidFill>
            <a:srgbClr val="DC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457200"/>
            <a:ext cx="128016" cy="777240"/>
          </a:xfrm>
          <a:prstGeom prst="rect">
            <a:avLst/>
          </a:prstGeom>
          <a:solidFill>
            <a:srgbClr val="B5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384048"/>
            <a:ext cx="10698480" cy="320040"/>
          </a:xfrm>
          <a:prstGeom prst="rect">
            <a:avLst/>
          </a:prstGeom>
          <a:noFill/>
        </p:spPr>
        <p:txBody>
          <a:bodyPr wrap="square" lIns="0" tIns="0" rIns="0" bIns="0" anchor="t">
            <a:spAutoFit/>
          </a:bodyPr>
          <a:lstStyle/>
          <a:p>
            <a:pPr algn="l">
              <a:spcAft>
                <a:spcPts val="600"/>
              </a:spcAft>
            </a:pPr>
            <a:r>
              <a:rPr sz="1300" b="1" i="0">
                <a:solidFill>
                  <a:srgbClr val="B56A0A"/>
                </a:solidFill>
                <a:latin typeface="Segoe UI"/>
              </a:rPr>
              <a:t>CLOUD + NETWORKING</a:t>
            </a:r>
          </a:p>
        </p:txBody>
      </p:sp>
      <p:sp>
        <p:nvSpPr>
          <p:cNvPr id="5" name="TextBox 4"/>
          <p:cNvSpPr txBox="1"/>
          <p:nvPr/>
        </p:nvSpPr>
        <p:spPr>
          <a:xfrm>
            <a:off x="868680" y="658368"/>
            <a:ext cx="10698480" cy="685800"/>
          </a:xfrm>
          <a:prstGeom prst="rect">
            <a:avLst/>
          </a:prstGeom>
          <a:noFill/>
        </p:spPr>
        <p:txBody>
          <a:bodyPr wrap="square" lIns="0" tIns="0" rIns="0" bIns="0" anchor="t">
            <a:spAutoFit/>
          </a:bodyPr>
          <a:lstStyle/>
          <a:p>
            <a:pPr algn="l">
              <a:spcAft>
                <a:spcPts val="600"/>
              </a:spcAft>
            </a:pPr>
            <a:r>
              <a:rPr sz="3000" b="1" i="0">
                <a:solidFill>
                  <a:srgbClr val="1A1E27"/>
                </a:solidFill>
                <a:latin typeface="Segoe UI Semibold"/>
              </a:rPr>
              <a:t>Cloud Fallback + Multipath QUIC</a:t>
            </a:r>
          </a:p>
        </p:txBody>
      </p:sp>
      <p:sp>
        <p:nvSpPr>
          <p:cNvPr id="6" name="TextBox 5"/>
          <p:cNvSpPr txBox="1"/>
          <p:nvPr/>
        </p:nvSpPr>
        <p:spPr>
          <a:xfrm>
            <a:off x="868680" y="1417320"/>
            <a:ext cx="10515600" cy="502920"/>
          </a:xfrm>
          <a:prstGeom prst="rect">
            <a:avLst/>
          </a:prstGeom>
          <a:noFill/>
        </p:spPr>
        <p:txBody>
          <a:bodyPr wrap="square" lIns="0" tIns="0" rIns="0" bIns="0" anchor="t">
            <a:spAutoFit/>
          </a:bodyPr>
          <a:lstStyle/>
          <a:p>
            <a:pPr algn="l">
              <a:spcAft>
                <a:spcPts val="600"/>
              </a:spcAft>
            </a:pPr>
            <a:r>
              <a:rPr sz="1600" b="0" i="0">
                <a:solidFill>
                  <a:srgbClr val="4A5260"/>
                </a:solidFill>
                <a:latin typeface="Segoe UI"/>
              </a:rPr>
              <a:t>When local isn't available, fail over to a bigger model over a link with no single point of failure.</a:t>
            </a:r>
          </a:p>
        </p:txBody>
      </p:sp>
      <p:sp>
        <p:nvSpPr>
          <p:cNvPr id="7" name="Rounded Rectangle 6"/>
          <p:cNvSpPr/>
          <p:nvPr/>
        </p:nvSpPr>
        <p:spPr>
          <a:xfrm>
            <a:off x="868680" y="2103120"/>
            <a:ext cx="5074920" cy="2103120"/>
          </a:xfrm>
          <a:prstGeom prst="roundRect">
            <a:avLst>
              <a:gd name="adj" fmla="val 8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8680" y="2103120"/>
            <a:ext cx="5074920" cy="73152"/>
          </a:xfrm>
          <a:prstGeom prst="rect">
            <a:avLst/>
          </a:prstGeom>
          <a:solidFill>
            <a:srgbClr val="B5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9848" y="2304288"/>
            <a:ext cx="4672584" cy="1737360"/>
          </a:xfrm>
          <a:prstGeom prst="rect">
            <a:avLst/>
          </a:prstGeom>
          <a:noFill/>
        </p:spPr>
        <p:txBody>
          <a:bodyPr wrap="square" lIns="0" tIns="0" rIns="0" bIns="0" anchor="t">
            <a:spAutoFit/>
          </a:bodyPr>
          <a:lstStyle/>
          <a:p>
            <a:pPr algn="l">
              <a:spcAft>
                <a:spcPts val="800"/>
              </a:spcAft>
            </a:pPr>
            <a:r>
              <a:rPr sz="1500" b="1" i="0">
                <a:solidFill>
                  <a:srgbClr val="1A1E27"/>
                </a:solidFill>
                <a:latin typeface="Segoe UI Semibold"/>
              </a:rPr>
              <a:t>Cloud fallback</a:t>
            </a:r>
          </a:p>
          <a:p>
            <a:pPr algn="l">
              <a:spcAft>
                <a:spcPts val="500"/>
              </a:spcAft>
            </a:pPr>
            <a:r>
              <a:rPr sz="1250" b="0" i="0">
                <a:solidFill>
                  <a:srgbClr val="4A5260"/>
                </a:solidFill>
                <a:latin typeface="Segoe UI"/>
              </a:rPr>
              <a:t>•  No local host found → route the same request to AWS EC2</a:t>
            </a:r>
          </a:p>
          <a:p>
            <a:pPr algn="l">
              <a:spcAft>
                <a:spcPts val="500"/>
              </a:spcAft>
            </a:pPr>
            <a:r>
              <a:rPr sz="1250" b="0" i="0">
                <a:solidFill>
                  <a:srgbClr val="4A5260"/>
                </a:solidFill>
                <a:latin typeface="Segoe UI"/>
              </a:rPr>
              <a:t>•  Ollama serves the larger Qwen3-VL:8B model</a:t>
            </a:r>
          </a:p>
          <a:p>
            <a:pPr algn="l">
              <a:spcAft>
                <a:spcPts val="500"/>
              </a:spcAft>
            </a:pPr>
            <a:r>
              <a:rPr sz="1250" b="0" i="0">
                <a:solidFill>
                  <a:srgbClr val="4A5260"/>
                </a:solidFill>
                <a:latin typeface="Segoe UI"/>
              </a:rPr>
              <a:t>•  A stronger, not weaker, fallback</a:t>
            </a:r>
          </a:p>
        </p:txBody>
      </p:sp>
      <p:sp>
        <p:nvSpPr>
          <p:cNvPr id="10" name="Rounded Rectangle 9"/>
          <p:cNvSpPr/>
          <p:nvPr/>
        </p:nvSpPr>
        <p:spPr>
          <a:xfrm>
            <a:off x="6172200" y="2103120"/>
            <a:ext cx="5120640" cy="2103120"/>
          </a:xfrm>
          <a:prstGeom prst="roundRect">
            <a:avLst>
              <a:gd name="adj" fmla="val 8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2103120"/>
            <a:ext cx="5120640" cy="73152"/>
          </a:xfrm>
          <a:prstGeom prst="rect">
            <a:avLst/>
          </a:prstGeom>
          <a:solidFill>
            <a:srgbClr val="B5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73368" y="2304288"/>
            <a:ext cx="4718304" cy="1737360"/>
          </a:xfrm>
          <a:prstGeom prst="rect">
            <a:avLst/>
          </a:prstGeom>
          <a:noFill/>
        </p:spPr>
        <p:txBody>
          <a:bodyPr wrap="square" lIns="0" tIns="0" rIns="0" bIns="0" anchor="t">
            <a:spAutoFit/>
          </a:bodyPr>
          <a:lstStyle/>
          <a:p>
            <a:pPr algn="l">
              <a:spcAft>
                <a:spcPts val="800"/>
              </a:spcAft>
            </a:pPr>
            <a:r>
              <a:rPr sz="1500" b="1" i="0">
                <a:solidFill>
                  <a:srgbClr val="1A1E27"/>
                </a:solidFill>
                <a:latin typeface="Segoe UI Semibold"/>
              </a:rPr>
              <a:t>Multipath QUIC (Wi-Fi + 5G)</a:t>
            </a:r>
          </a:p>
          <a:p>
            <a:pPr algn="l">
              <a:spcAft>
                <a:spcPts val="500"/>
              </a:spcAft>
            </a:pPr>
            <a:r>
              <a:rPr sz="1250" b="0" i="0">
                <a:solidFill>
                  <a:srgbClr val="4A5260"/>
                </a:solidFill>
                <a:latin typeface="Segoe UI"/>
              </a:rPr>
              <a:t>•  Wi-Fi signal degrades → traffic shifts to cellular automatically</a:t>
            </a:r>
          </a:p>
          <a:p>
            <a:pPr algn="l">
              <a:spcAft>
                <a:spcPts val="500"/>
              </a:spcAft>
            </a:pPr>
            <a:r>
              <a:rPr sz="1250" b="0" i="0">
                <a:solidFill>
                  <a:srgbClr val="4A5260"/>
                </a:solidFill>
                <a:latin typeface="Segoe UI"/>
              </a:rPr>
              <a:t>•  Phone rides Wi-Fi and 5G to AWS simultaneously</a:t>
            </a:r>
          </a:p>
          <a:p>
            <a:pPr algn="l">
              <a:spcAft>
                <a:spcPts val="500"/>
              </a:spcAft>
            </a:pPr>
            <a:r>
              <a:rPr sz="1250" b="0" i="0">
                <a:solidFill>
                  <a:srgbClr val="4A5260"/>
                </a:solidFill>
                <a:latin typeface="Segoe UI"/>
              </a:rPr>
              <a:t>•  If one network drops, the connection survives on the other</a:t>
            </a:r>
          </a:p>
          <a:p>
            <a:pPr algn="l">
              <a:spcAft>
                <a:spcPts val="500"/>
              </a:spcAft>
            </a:pPr>
            <a:r>
              <a:rPr sz="1250" b="0" i="0">
                <a:solidFill>
                  <a:srgbClr val="4A5260"/>
                </a:solidFill>
                <a:latin typeface="Segoe UI"/>
              </a:rPr>
              <a:t>•  No reconnect — the single most distinctive part of the stack</a:t>
            </a:r>
          </a:p>
        </p:txBody>
      </p:sp>
      <p:sp>
        <p:nvSpPr>
          <p:cNvPr id="13" name="Rounded Rectangle 12"/>
          <p:cNvSpPr/>
          <p:nvPr/>
        </p:nvSpPr>
        <p:spPr>
          <a:xfrm>
            <a:off x="1815506" y="4714670"/>
            <a:ext cx="2194560" cy="1051560"/>
          </a:xfrm>
          <a:prstGeom prst="roundRect">
            <a:avLst>
              <a:gd name="adj" fmla="val 15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300" b="1" i="0" dirty="0">
                <a:solidFill>
                  <a:srgbClr val="1A1E27"/>
                </a:solidFill>
                <a:latin typeface="Segoe UI"/>
              </a:rPr>
              <a:t>Wi-Fi path</a:t>
            </a:r>
          </a:p>
          <a:p>
            <a:pPr algn="ctr">
              <a:spcAft>
                <a:spcPts val="600"/>
              </a:spcAft>
            </a:pPr>
            <a:r>
              <a:rPr sz="1300" b="1" i="0" dirty="0">
                <a:solidFill>
                  <a:srgbClr val="1A1E27"/>
                </a:solidFill>
                <a:latin typeface="Segoe UI"/>
              </a:rPr>
              <a:t>5G path</a:t>
            </a:r>
          </a:p>
        </p:txBody>
      </p:sp>
      <p:cxnSp>
        <p:nvCxnSpPr>
          <p:cNvPr id="14" name="Connector 13"/>
          <p:cNvCxnSpPr/>
          <p:nvPr/>
        </p:nvCxnSpPr>
        <p:spPr>
          <a:xfrm>
            <a:off x="4010066" y="5240450"/>
            <a:ext cx="457200" cy="0"/>
          </a:xfrm>
          <a:prstGeom prst="line">
            <a:avLst/>
          </a:prstGeom>
          <a:ln w="28575">
            <a:solidFill>
              <a:srgbClr val="B56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67266" y="4714670"/>
            <a:ext cx="2834640" cy="1051560"/>
          </a:xfrm>
          <a:prstGeom prst="roundRect">
            <a:avLst>
              <a:gd name="adj" fmla="val 15000"/>
            </a:avLst>
          </a:prstGeom>
          <a:solidFill>
            <a:srgbClr val="FCF2E6"/>
          </a:solidFill>
          <a:ln w="15875">
            <a:solidFill>
              <a:srgbClr val="B56A0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300" b="1" i="0">
                <a:solidFill>
                  <a:srgbClr val="B56A0A"/>
                </a:solidFill>
                <a:latin typeface="Segoe UI"/>
              </a:rPr>
              <a:t>One Multipath QUIC Connection</a:t>
            </a:r>
          </a:p>
          <a:p>
            <a:pPr algn="ctr">
              <a:spcAft>
                <a:spcPts val="600"/>
              </a:spcAft>
            </a:pPr>
            <a:r>
              <a:rPr sz="1150" b="0" i="0">
                <a:solidFill>
                  <a:srgbClr val="B56A0A"/>
                </a:solidFill>
                <a:latin typeface="Segoe UI"/>
              </a:rPr>
              <a:t>minrtt scheduler picks best path</a:t>
            </a:r>
          </a:p>
        </p:txBody>
      </p:sp>
      <p:cxnSp>
        <p:nvCxnSpPr>
          <p:cNvPr id="16" name="Connector 15"/>
          <p:cNvCxnSpPr/>
          <p:nvPr/>
        </p:nvCxnSpPr>
        <p:spPr>
          <a:xfrm>
            <a:off x="7301906" y="5240450"/>
            <a:ext cx="457200" cy="0"/>
          </a:xfrm>
          <a:prstGeom prst="line">
            <a:avLst/>
          </a:prstGeom>
          <a:ln w="28575">
            <a:solidFill>
              <a:srgbClr val="B56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59106" y="4714670"/>
            <a:ext cx="2743200" cy="1051560"/>
          </a:xfrm>
          <a:prstGeom prst="roundRect">
            <a:avLst>
              <a:gd name="adj" fmla="val 15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300" b="1" i="0">
                <a:solidFill>
                  <a:srgbClr val="1A1E27"/>
                </a:solidFill>
                <a:latin typeface="Segoe UI"/>
              </a:rPr>
              <a:t>AWS EC2</a:t>
            </a:r>
          </a:p>
          <a:p>
            <a:pPr algn="ctr">
              <a:spcAft>
                <a:spcPts val="600"/>
              </a:spcAft>
            </a:pPr>
            <a:r>
              <a:rPr sz="1150" b="0" i="0">
                <a:solidFill>
                  <a:srgbClr val="4A5260"/>
                </a:solidFill>
                <a:latin typeface="Segoe UI"/>
              </a:rPr>
              <a:t>Ollama · Qwen3-VL:8B</a:t>
            </a:r>
          </a:p>
        </p:txBody>
      </p:sp>
      <p:sp>
        <p:nvSpPr>
          <p:cNvPr id="18" name="TextBox 17"/>
          <p:cNvSpPr txBox="1"/>
          <p:nvPr/>
        </p:nvSpPr>
        <p:spPr>
          <a:xfrm>
            <a:off x="548640" y="6510528"/>
            <a:ext cx="7315200" cy="274320"/>
          </a:xfrm>
          <a:prstGeom prst="rect">
            <a:avLst/>
          </a:prstGeom>
          <a:noFill/>
        </p:spPr>
        <p:txBody>
          <a:bodyPr wrap="square" lIns="0" tIns="0" rIns="0" bIns="0" anchor="t">
            <a:spAutoFit/>
          </a:bodyPr>
          <a:lstStyle/>
          <a:p>
            <a:pPr algn="l">
              <a:spcAft>
                <a:spcPts val="600"/>
              </a:spcAft>
            </a:pPr>
            <a:r>
              <a:rPr sz="1000" b="0" i="0">
                <a:solidFill>
                  <a:srgbClr val="4A5260"/>
                </a:solidFill>
                <a:latin typeface="Segoe UI"/>
              </a:rPr>
              <a:t>AI-Powered Allergen Detection  |  AR Glasses · Edge AI · Multipath QUIC</a:t>
            </a:r>
          </a:p>
        </p:txBody>
      </p:sp>
      <p:sp>
        <p:nvSpPr>
          <p:cNvPr id="19" name="TextBox 18"/>
          <p:cNvSpPr txBox="1"/>
          <p:nvPr/>
        </p:nvSpPr>
        <p:spPr>
          <a:xfrm>
            <a:off x="10881360" y="6510528"/>
            <a:ext cx="822960" cy="274320"/>
          </a:xfrm>
          <a:prstGeom prst="rect">
            <a:avLst/>
          </a:prstGeom>
          <a:noFill/>
        </p:spPr>
        <p:txBody>
          <a:bodyPr wrap="square" lIns="0" tIns="0" rIns="0" bIns="0" anchor="t">
            <a:spAutoFit/>
          </a:bodyPr>
          <a:lstStyle/>
          <a:p>
            <a:pPr algn="r">
              <a:spcAft>
                <a:spcPts val="600"/>
              </a:spcAft>
            </a:pPr>
            <a:r>
              <a:rPr sz="1000" b="0" i="0">
                <a:solidFill>
                  <a:srgbClr val="4A5260"/>
                </a:solidFill>
                <a:latin typeface="Segoe UI"/>
              </a:rPr>
              <a:t>5 / 7</a:t>
            </a:r>
          </a:p>
        </p:txBody>
      </p:sp>
      <p:sp>
        <p:nvSpPr>
          <p:cNvPr id="20" name="Rectangle 19"/>
          <p:cNvSpPr/>
          <p:nvPr/>
        </p:nvSpPr>
        <p:spPr>
          <a:xfrm>
            <a:off x="548640" y="6419088"/>
            <a:ext cx="11091672" cy="12700"/>
          </a:xfrm>
          <a:prstGeom prst="rect">
            <a:avLst/>
          </a:prstGeom>
          <a:solidFill>
            <a:srgbClr val="DC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457200"/>
            <a:ext cx="128016" cy="777240"/>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384048"/>
            <a:ext cx="10698480" cy="320040"/>
          </a:xfrm>
          <a:prstGeom prst="rect">
            <a:avLst/>
          </a:prstGeom>
          <a:noFill/>
        </p:spPr>
        <p:txBody>
          <a:bodyPr wrap="square" lIns="0" tIns="0" rIns="0" bIns="0" anchor="t">
            <a:spAutoFit/>
          </a:bodyPr>
          <a:lstStyle/>
          <a:p>
            <a:pPr algn="l">
              <a:spcAft>
                <a:spcPts val="600"/>
              </a:spcAft>
            </a:pPr>
            <a:r>
              <a:rPr sz="1300" b="1" i="0">
                <a:solidFill>
                  <a:srgbClr val="0B63CE"/>
                </a:solidFill>
                <a:latin typeface="Segoe UI"/>
              </a:rPr>
              <a:t>LIVE DEMO</a:t>
            </a:r>
          </a:p>
        </p:txBody>
      </p:sp>
      <p:sp>
        <p:nvSpPr>
          <p:cNvPr id="5" name="TextBox 4"/>
          <p:cNvSpPr txBox="1"/>
          <p:nvPr/>
        </p:nvSpPr>
        <p:spPr>
          <a:xfrm>
            <a:off x="868680" y="658368"/>
            <a:ext cx="10698480" cy="685800"/>
          </a:xfrm>
          <a:prstGeom prst="rect">
            <a:avLst/>
          </a:prstGeom>
          <a:noFill/>
        </p:spPr>
        <p:txBody>
          <a:bodyPr wrap="square" lIns="0" tIns="0" rIns="0" bIns="0" anchor="t">
            <a:spAutoFit/>
          </a:bodyPr>
          <a:lstStyle/>
          <a:p>
            <a:pPr algn="l">
              <a:spcAft>
                <a:spcPts val="600"/>
              </a:spcAft>
            </a:pPr>
            <a:r>
              <a:rPr sz="3000" b="1" i="0">
                <a:solidFill>
                  <a:srgbClr val="1A1E27"/>
                </a:solidFill>
                <a:latin typeface="Segoe UI Semibold"/>
              </a:rPr>
              <a:t>Everything Just Described — Running Now</a:t>
            </a:r>
          </a:p>
        </p:txBody>
      </p:sp>
      <p:sp>
        <p:nvSpPr>
          <p:cNvPr id="6" name="TextBox 5"/>
          <p:cNvSpPr txBox="1"/>
          <p:nvPr/>
        </p:nvSpPr>
        <p:spPr>
          <a:xfrm>
            <a:off x="868680" y="1417320"/>
            <a:ext cx="10515600" cy="502920"/>
          </a:xfrm>
          <a:prstGeom prst="rect">
            <a:avLst/>
          </a:prstGeom>
          <a:noFill/>
        </p:spPr>
        <p:txBody>
          <a:bodyPr wrap="square" lIns="0" tIns="0" rIns="0" bIns="0" anchor="t">
            <a:spAutoFit/>
          </a:bodyPr>
          <a:lstStyle/>
          <a:p>
            <a:pPr algn="l">
              <a:spcAft>
                <a:spcPts val="600"/>
              </a:spcAft>
            </a:pPr>
            <a:r>
              <a:rPr sz="1600" b="0" i="0">
                <a:solidFill>
                  <a:srgbClr val="4A5260"/>
                </a:solidFill>
                <a:latin typeface="Segoe UI"/>
              </a:rPr>
              <a:t>Two beats, tight timing. Narrate each one — don't go quiet while it runs.</a:t>
            </a:r>
          </a:p>
        </p:txBody>
      </p:sp>
      <p:sp>
        <p:nvSpPr>
          <p:cNvPr id="7" name="Rounded Rectangle 6"/>
          <p:cNvSpPr/>
          <p:nvPr/>
        </p:nvSpPr>
        <p:spPr>
          <a:xfrm>
            <a:off x="868680" y="2148840"/>
            <a:ext cx="5074920" cy="1691640"/>
          </a:xfrm>
          <a:prstGeom prst="roundRect">
            <a:avLst>
              <a:gd name="adj" fmla="val 8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8680" y="2148840"/>
            <a:ext cx="5074920" cy="73152"/>
          </a:xfrm>
          <a:prstGeom prst="rect">
            <a:avLst/>
          </a:prstGeom>
          <a:solidFill>
            <a:srgbClr val="1E7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9848" y="2350008"/>
            <a:ext cx="4672584" cy="1325880"/>
          </a:xfrm>
          <a:prstGeom prst="rect">
            <a:avLst/>
          </a:prstGeom>
          <a:noFill/>
        </p:spPr>
        <p:txBody>
          <a:bodyPr wrap="square" lIns="0" tIns="0" rIns="0" bIns="0" anchor="t">
            <a:spAutoFit/>
          </a:bodyPr>
          <a:lstStyle/>
          <a:p>
            <a:pPr algn="l">
              <a:spcAft>
                <a:spcPts val="800"/>
              </a:spcAft>
            </a:pPr>
            <a:r>
              <a:rPr sz="1500" b="1" i="0">
                <a:solidFill>
                  <a:srgbClr val="1A1E27"/>
                </a:solidFill>
                <a:latin typeface="Segoe UI Semibold"/>
              </a:rPr>
              <a:t>Beat 1 · Local-first success</a:t>
            </a:r>
          </a:p>
          <a:p>
            <a:pPr algn="l">
              <a:spcAft>
                <a:spcPts val="500"/>
              </a:spcAft>
            </a:pPr>
            <a:r>
              <a:rPr sz="1250" b="0" i="0">
                <a:solidFill>
                  <a:srgbClr val="4A5260"/>
                </a:solidFill>
                <a:latin typeface="Segoe UI"/>
              </a:rPr>
              <a:t>•  Ask the allergen question wearing the glasses</a:t>
            </a:r>
          </a:p>
          <a:p>
            <a:pPr algn="l">
              <a:spcAft>
                <a:spcPts val="500"/>
              </a:spcAft>
            </a:pPr>
            <a:r>
              <a:rPr sz="1250" b="0" i="0">
                <a:solidFill>
                  <a:srgbClr val="4A5260"/>
                </a:solidFill>
                <a:latin typeface="Segoe UI"/>
              </a:rPr>
              <a:t>•  Local path (X Elite) answers fast</a:t>
            </a:r>
          </a:p>
          <a:p>
            <a:pPr algn="l">
              <a:spcAft>
                <a:spcPts val="500"/>
              </a:spcAft>
            </a:pPr>
            <a:r>
              <a:rPr sz="1250" b="0" i="0">
                <a:solidFill>
                  <a:srgbClr val="4A5260"/>
                </a:solidFill>
                <a:latin typeface="Segoe UI"/>
              </a:rPr>
              <a:t>•  Call out the path indicator on screen</a:t>
            </a:r>
          </a:p>
        </p:txBody>
      </p:sp>
      <p:sp>
        <p:nvSpPr>
          <p:cNvPr id="10" name="Rounded Rectangle 9"/>
          <p:cNvSpPr/>
          <p:nvPr/>
        </p:nvSpPr>
        <p:spPr>
          <a:xfrm>
            <a:off x="6172200" y="2148840"/>
            <a:ext cx="5074920" cy="1691640"/>
          </a:xfrm>
          <a:prstGeom prst="roundRect">
            <a:avLst>
              <a:gd name="adj" fmla="val 8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72200" y="2148840"/>
            <a:ext cx="5074920" cy="73152"/>
          </a:xfrm>
          <a:prstGeom prst="rect">
            <a:avLst/>
          </a:prstGeom>
          <a:solidFill>
            <a:srgbClr val="B5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73368" y="2350008"/>
            <a:ext cx="4672584" cy="1325880"/>
          </a:xfrm>
          <a:prstGeom prst="rect">
            <a:avLst/>
          </a:prstGeom>
          <a:noFill/>
        </p:spPr>
        <p:txBody>
          <a:bodyPr wrap="square" lIns="0" tIns="0" rIns="0" bIns="0" anchor="t">
            <a:spAutoFit/>
          </a:bodyPr>
          <a:lstStyle/>
          <a:p>
            <a:pPr algn="l">
              <a:spcAft>
                <a:spcPts val="800"/>
              </a:spcAft>
            </a:pPr>
            <a:r>
              <a:rPr sz="1500" b="1" i="0">
                <a:solidFill>
                  <a:srgbClr val="1A1E27"/>
                </a:solidFill>
                <a:latin typeface="Segoe UI Semibold"/>
              </a:rPr>
              <a:t>Beat 2 · Forced cloud fallback</a:t>
            </a:r>
          </a:p>
          <a:p>
            <a:pPr algn="l">
              <a:spcAft>
                <a:spcPts val="500"/>
              </a:spcAft>
            </a:pPr>
            <a:r>
              <a:rPr sz="1250" b="0" i="0">
                <a:solidFill>
                  <a:srgbClr val="4A5260"/>
                </a:solidFill>
                <a:latin typeface="Segoe UI"/>
              </a:rPr>
              <a:t>•  Disable local host / narrate “now forcing cloud”</a:t>
            </a:r>
          </a:p>
          <a:p>
            <a:pPr algn="l">
              <a:spcAft>
                <a:spcPts val="500"/>
              </a:spcAft>
            </a:pPr>
            <a:r>
              <a:rPr sz="1250" b="0" i="0">
                <a:solidFill>
                  <a:srgbClr val="4A5260"/>
                </a:solidFill>
                <a:latin typeface="Segoe UI"/>
              </a:rPr>
              <a:t>•  Re-ask — show fallback to AWS</a:t>
            </a:r>
          </a:p>
          <a:p>
            <a:pPr algn="l">
              <a:spcAft>
                <a:spcPts val="500"/>
              </a:spcAft>
            </a:pPr>
            <a:r>
              <a:rPr sz="1250" b="0" i="0">
                <a:solidFill>
                  <a:srgbClr val="4A5260"/>
                </a:solidFill>
                <a:latin typeface="Segoe UI"/>
              </a:rPr>
              <a:t>•  If time allows: show the Wi-Fi → 5G path switch live</a:t>
            </a:r>
          </a:p>
        </p:txBody>
      </p:sp>
      <p:sp>
        <p:nvSpPr>
          <p:cNvPr id="13" name="Rounded Rectangle 12"/>
          <p:cNvSpPr/>
          <p:nvPr/>
        </p:nvSpPr>
        <p:spPr>
          <a:xfrm>
            <a:off x="868680" y="4206240"/>
            <a:ext cx="10424160" cy="914400"/>
          </a:xfrm>
          <a:prstGeom prst="roundRect">
            <a:avLst>
              <a:gd name="adj" fmla="val 10000"/>
            </a:avLst>
          </a:prstGeom>
          <a:solidFill>
            <a:srgbClr val="FCF2E6"/>
          </a:solidFill>
          <a:ln w="12700">
            <a:solidFill>
              <a:srgbClr val="B56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4343400"/>
            <a:ext cx="10058400" cy="685800"/>
          </a:xfrm>
          <a:prstGeom prst="rect">
            <a:avLst/>
          </a:prstGeom>
          <a:noFill/>
        </p:spPr>
        <p:txBody>
          <a:bodyPr wrap="square" lIns="0" tIns="0" rIns="0" bIns="0" anchor="t">
            <a:spAutoFit/>
          </a:bodyPr>
          <a:lstStyle/>
          <a:p>
            <a:pPr algn="l">
              <a:spcAft>
                <a:spcPts val="400"/>
              </a:spcAft>
            </a:pPr>
            <a:r>
              <a:rPr sz="1150" b="1" i="0">
                <a:solidFill>
                  <a:srgbClr val="B56A0A"/>
                </a:solidFill>
                <a:latin typeface="Segoe UI"/>
              </a:rPr>
              <a:t>BACKUP PLAN</a:t>
            </a:r>
          </a:p>
          <a:p>
            <a:pPr algn="l">
              <a:spcAft>
                <a:spcPts val="600"/>
              </a:spcAft>
            </a:pPr>
            <a:r>
              <a:rPr sz="1350" b="0" i="0">
                <a:solidFill>
                  <a:srgbClr val="1A1E27"/>
                </a:solidFill>
                <a:latin typeface="Segoe UI"/>
              </a:rPr>
              <a:t>Have a 60–90s backup video cued in case live networking fails at the venue.</a:t>
            </a:r>
          </a:p>
        </p:txBody>
      </p:sp>
      <p:sp>
        <p:nvSpPr>
          <p:cNvPr id="15" name="TextBox 14"/>
          <p:cNvSpPr txBox="1"/>
          <p:nvPr/>
        </p:nvSpPr>
        <p:spPr>
          <a:xfrm>
            <a:off x="548640" y="6510528"/>
            <a:ext cx="7315200" cy="274320"/>
          </a:xfrm>
          <a:prstGeom prst="rect">
            <a:avLst/>
          </a:prstGeom>
          <a:noFill/>
        </p:spPr>
        <p:txBody>
          <a:bodyPr wrap="square" lIns="0" tIns="0" rIns="0" bIns="0" anchor="t">
            <a:spAutoFit/>
          </a:bodyPr>
          <a:lstStyle/>
          <a:p>
            <a:pPr algn="l">
              <a:spcAft>
                <a:spcPts val="600"/>
              </a:spcAft>
            </a:pPr>
            <a:r>
              <a:rPr sz="1000" b="0" i="0">
                <a:solidFill>
                  <a:srgbClr val="4A5260"/>
                </a:solidFill>
                <a:latin typeface="Segoe UI"/>
              </a:rPr>
              <a:t>AI-Powered Allergen Detection  |  AR Glasses · Edge AI · Multipath QUIC</a:t>
            </a:r>
          </a:p>
        </p:txBody>
      </p:sp>
      <p:sp>
        <p:nvSpPr>
          <p:cNvPr id="16" name="TextBox 15"/>
          <p:cNvSpPr txBox="1"/>
          <p:nvPr/>
        </p:nvSpPr>
        <p:spPr>
          <a:xfrm>
            <a:off x="10881360" y="6510528"/>
            <a:ext cx="822960" cy="274320"/>
          </a:xfrm>
          <a:prstGeom prst="rect">
            <a:avLst/>
          </a:prstGeom>
          <a:noFill/>
        </p:spPr>
        <p:txBody>
          <a:bodyPr wrap="square" lIns="0" tIns="0" rIns="0" bIns="0" anchor="t">
            <a:spAutoFit/>
          </a:bodyPr>
          <a:lstStyle/>
          <a:p>
            <a:pPr algn="r">
              <a:spcAft>
                <a:spcPts val="600"/>
              </a:spcAft>
            </a:pPr>
            <a:r>
              <a:rPr sz="1000" b="0" i="0">
                <a:solidFill>
                  <a:srgbClr val="4A5260"/>
                </a:solidFill>
                <a:latin typeface="Segoe UI"/>
              </a:rPr>
              <a:t>6 / 7</a:t>
            </a:r>
          </a:p>
        </p:txBody>
      </p:sp>
      <p:sp>
        <p:nvSpPr>
          <p:cNvPr id="17" name="Rectangle 16"/>
          <p:cNvSpPr/>
          <p:nvPr/>
        </p:nvSpPr>
        <p:spPr>
          <a:xfrm>
            <a:off x="548640" y="6419088"/>
            <a:ext cx="11091672" cy="12700"/>
          </a:xfrm>
          <a:prstGeom prst="rect">
            <a:avLst/>
          </a:prstGeom>
          <a:solidFill>
            <a:srgbClr val="DC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0"/>
          </a:xfrm>
          <a:prstGeom prst="rect">
            <a:avLst/>
          </a:prstGeom>
          <a:solidFill>
            <a:srgbClr val="F7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46304" cy="6858000"/>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011680"/>
            <a:ext cx="10515600" cy="230832"/>
          </a:xfrm>
          <a:prstGeom prst="rect">
            <a:avLst/>
          </a:prstGeom>
          <a:noFill/>
        </p:spPr>
        <p:txBody>
          <a:bodyPr wrap="square" lIns="0" tIns="0" rIns="0" bIns="0" anchor="t">
            <a:spAutoFit/>
          </a:bodyPr>
          <a:lstStyle/>
          <a:p>
            <a:pPr algn="ctr">
              <a:spcAft>
                <a:spcPts val="600"/>
              </a:spcAft>
            </a:pPr>
            <a:r>
              <a:rPr lang="en-US" sz="1500" b="1" i="0" dirty="0">
                <a:solidFill>
                  <a:srgbClr val="083D82"/>
                </a:solidFill>
                <a:latin typeface="Segoe UI"/>
              </a:rPr>
              <a:t>N</a:t>
            </a:r>
            <a:r>
              <a:rPr sz="1500" b="1" i="0" dirty="0">
                <a:solidFill>
                  <a:srgbClr val="083D82"/>
                </a:solidFill>
                <a:latin typeface="Segoe UI"/>
              </a:rPr>
              <a:t>PU-READY EDGE AI  · MULTIPATH NETWORKING  · AR GLASSES</a:t>
            </a:r>
          </a:p>
        </p:txBody>
      </p:sp>
      <p:sp>
        <p:nvSpPr>
          <p:cNvPr id="6" name="TextBox 5"/>
          <p:cNvSpPr txBox="1"/>
          <p:nvPr/>
        </p:nvSpPr>
        <p:spPr>
          <a:xfrm>
            <a:off x="822960" y="2651760"/>
            <a:ext cx="10515600" cy="1463040"/>
          </a:xfrm>
          <a:prstGeom prst="rect">
            <a:avLst/>
          </a:prstGeom>
          <a:noFill/>
        </p:spPr>
        <p:txBody>
          <a:bodyPr wrap="square" lIns="0" tIns="0" rIns="0" bIns="0" anchor="t">
            <a:spAutoFit/>
          </a:bodyPr>
          <a:lstStyle/>
          <a:p>
            <a:pPr algn="ctr">
              <a:spcAft>
                <a:spcPts val="200"/>
              </a:spcAft>
            </a:pPr>
            <a:r>
              <a:rPr sz="3400" b="1" i="0">
                <a:solidFill>
                  <a:srgbClr val="1A1E27"/>
                </a:solidFill>
                <a:latin typeface="Segoe UI Semibold"/>
              </a:rPr>
              <a:t>Local When Possible.</a:t>
            </a:r>
          </a:p>
          <a:p>
            <a:pPr algn="ctr">
              <a:spcAft>
                <a:spcPts val="200"/>
              </a:spcAft>
            </a:pPr>
            <a:r>
              <a:rPr sz="3400" b="1" i="0">
                <a:solidFill>
                  <a:srgbClr val="1A1E27"/>
                </a:solidFill>
                <a:latin typeface="Segoe UI Semibold"/>
              </a:rPr>
              <a:t>Cloud When Needed.</a:t>
            </a:r>
          </a:p>
          <a:p>
            <a:pPr algn="ctr">
              <a:spcAft>
                <a:spcPts val="600"/>
              </a:spcAft>
            </a:pPr>
            <a:r>
              <a:rPr sz="3400" b="1" i="0">
                <a:solidFill>
                  <a:srgbClr val="0B63CE"/>
                </a:solidFill>
                <a:latin typeface="Segoe UI Semibold"/>
              </a:rPr>
              <a:t>Safety Always.</a:t>
            </a:r>
          </a:p>
        </p:txBody>
      </p:sp>
      <p:sp>
        <p:nvSpPr>
          <p:cNvPr id="7" name="TextBox 6"/>
          <p:cNvSpPr txBox="1"/>
          <p:nvPr/>
        </p:nvSpPr>
        <p:spPr>
          <a:xfrm>
            <a:off x="822960" y="4480560"/>
            <a:ext cx="10515600" cy="457200"/>
          </a:xfrm>
          <a:prstGeom prst="rect">
            <a:avLst/>
          </a:prstGeom>
          <a:noFill/>
        </p:spPr>
        <p:txBody>
          <a:bodyPr wrap="square" lIns="0" tIns="0" rIns="0" bIns="0" anchor="t">
            <a:spAutoFit/>
          </a:bodyPr>
          <a:lstStyle/>
          <a:p>
            <a:pPr algn="ctr">
              <a:spcAft>
                <a:spcPts val="600"/>
              </a:spcAft>
            </a:pPr>
            <a:r>
              <a:rPr sz="1800" b="0" i="0">
                <a:solidFill>
                  <a:srgbClr val="4A5260"/>
                </a:solidFill>
                <a:latin typeface="Segoe UI"/>
              </a:rPr>
              <a:t>Thank you — happy to take questions.</a:t>
            </a:r>
          </a:p>
        </p:txBody>
      </p:sp>
      <p:sp>
        <p:nvSpPr>
          <p:cNvPr id="8" name="TextBox 7"/>
          <p:cNvSpPr txBox="1"/>
          <p:nvPr/>
        </p:nvSpPr>
        <p:spPr>
          <a:xfrm>
            <a:off x="548640" y="6510528"/>
            <a:ext cx="7315200" cy="274320"/>
          </a:xfrm>
          <a:prstGeom prst="rect">
            <a:avLst/>
          </a:prstGeom>
          <a:noFill/>
        </p:spPr>
        <p:txBody>
          <a:bodyPr wrap="square" lIns="0" tIns="0" rIns="0" bIns="0" anchor="t">
            <a:spAutoFit/>
          </a:bodyPr>
          <a:lstStyle/>
          <a:p>
            <a:pPr algn="l">
              <a:spcAft>
                <a:spcPts val="600"/>
              </a:spcAft>
            </a:pPr>
            <a:r>
              <a:rPr sz="1000" b="0" i="0">
                <a:solidFill>
                  <a:srgbClr val="4A5260"/>
                </a:solidFill>
                <a:latin typeface="Segoe UI"/>
              </a:rPr>
              <a:t>AI-Powered Allergen Detection  |  AR Glasses · Edge AI · Multipath QUIC</a:t>
            </a:r>
          </a:p>
        </p:txBody>
      </p:sp>
      <p:sp>
        <p:nvSpPr>
          <p:cNvPr id="9" name="TextBox 8"/>
          <p:cNvSpPr txBox="1"/>
          <p:nvPr/>
        </p:nvSpPr>
        <p:spPr>
          <a:xfrm>
            <a:off x="10881360" y="6510528"/>
            <a:ext cx="822960" cy="274320"/>
          </a:xfrm>
          <a:prstGeom prst="rect">
            <a:avLst/>
          </a:prstGeom>
          <a:noFill/>
        </p:spPr>
        <p:txBody>
          <a:bodyPr wrap="square" lIns="0" tIns="0" rIns="0" bIns="0" anchor="t">
            <a:spAutoFit/>
          </a:bodyPr>
          <a:lstStyle/>
          <a:p>
            <a:pPr algn="r">
              <a:spcAft>
                <a:spcPts val="600"/>
              </a:spcAft>
            </a:pPr>
            <a:r>
              <a:rPr sz="1000" b="0" i="0">
                <a:solidFill>
                  <a:srgbClr val="4A5260"/>
                </a:solidFill>
                <a:latin typeface="Segoe UI"/>
              </a:rPr>
              <a:t>7 / 7</a:t>
            </a:r>
          </a:p>
        </p:txBody>
      </p:sp>
      <p:sp>
        <p:nvSpPr>
          <p:cNvPr id="10" name="Rectangle 9"/>
          <p:cNvSpPr/>
          <p:nvPr/>
        </p:nvSpPr>
        <p:spPr>
          <a:xfrm>
            <a:off x="548640" y="6419088"/>
            <a:ext cx="11091672" cy="12700"/>
          </a:xfrm>
          <a:prstGeom prst="rect">
            <a:avLst/>
          </a:prstGeom>
          <a:solidFill>
            <a:srgbClr val="DC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457200"/>
            <a:ext cx="128016" cy="777240"/>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384048"/>
            <a:ext cx="10698480" cy="320040"/>
          </a:xfrm>
          <a:prstGeom prst="rect">
            <a:avLst/>
          </a:prstGeom>
          <a:noFill/>
        </p:spPr>
        <p:txBody>
          <a:bodyPr wrap="square" lIns="0" tIns="0" rIns="0" bIns="0" anchor="t">
            <a:spAutoFit/>
          </a:bodyPr>
          <a:lstStyle/>
          <a:p>
            <a:pPr algn="l">
              <a:spcAft>
                <a:spcPts val="600"/>
              </a:spcAft>
            </a:pPr>
            <a:r>
              <a:rPr sz="1300" b="1" i="0">
                <a:solidFill>
                  <a:srgbClr val="0B63CE"/>
                </a:solidFill>
                <a:latin typeface="Segoe UI"/>
              </a:rPr>
              <a:t>APPENDIX · Q&amp;A BACKUP</a:t>
            </a:r>
          </a:p>
        </p:txBody>
      </p:sp>
      <p:sp>
        <p:nvSpPr>
          <p:cNvPr id="5" name="TextBox 4"/>
          <p:cNvSpPr txBox="1"/>
          <p:nvPr/>
        </p:nvSpPr>
        <p:spPr>
          <a:xfrm>
            <a:off x="868680" y="658368"/>
            <a:ext cx="10698480" cy="685800"/>
          </a:xfrm>
          <a:prstGeom prst="rect">
            <a:avLst/>
          </a:prstGeom>
          <a:noFill/>
        </p:spPr>
        <p:txBody>
          <a:bodyPr wrap="square" lIns="0" tIns="0" rIns="0" bIns="0" anchor="t">
            <a:spAutoFit/>
          </a:bodyPr>
          <a:lstStyle/>
          <a:p>
            <a:pPr algn="l">
              <a:spcAft>
                <a:spcPts val="600"/>
              </a:spcAft>
            </a:pPr>
            <a:r>
              <a:rPr sz="3000" b="1" i="0">
                <a:solidFill>
                  <a:srgbClr val="1A1E27"/>
                </a:solidFill>
                <a:latin typeface="Segoe UI Semibold"/>
              </a:rPr>
              <a:t>Why Koog?</a:t>
            </a:r>
          </a:p>
        </p:txBody>
      </p:sp>
      <p:sp>
        <p:nvSpPr>
          <p:cNvPr id="6" name="Rounded Rectangle 5"/>
          <p:cNvSpPr/>
          <p:nvPr/>
        </p:nvSpPr>
        <p:spPr>
          <a:xfrm>
            <a:off x="868680" y="1417320"/>
            <a:ext cx="10424160" cy="685800"/>
          </a:xfrm>
          <a:prstGeom prst="roundRect">
            <a:avLst>
              <a:gd name="adj" fmla="val 10000"/>
            </a:avLst>
          </a:prstGeom>
          <a:solidFill>
            <a:srgbClr val="E9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563624"/>
            <a:ext cx="9966960" cy="411480"/>
          </a:xfrm>
          <a:prstGeom prst="rect">
            <a:avLst/>
          </a:prstGeom>
          <a:noFill/>
        </p:spPr>
        <p:txBody>
          <a:bodyPr wrap="square" lIns="0" tIns="0" rIns="0" bIns="0" anchor="t">
            <a:spAutoFit/>
          </a:bodyPr>
          <a:lstStyle/>
          <a:p>
            <a:pPr algn="l">
              <a:spcAft>
                <a:spcPts val="300"/>
              </a:spcAft>
            </a:pPr>
            <a:r>
              <a:rPr sz="1100" b="1" i="0">
                <a:solidFill>
                  <a:srgbClr val="083D82"/>
                </a:solidFill>
                <a:latin typeface="Segoe UI"/>
              </a:rPr>
              <a:t>KEY MESSAGE</a:t>
            </a:r>
          </a:p>
          <a:p>
            <a:pPr algn="l">
              <a:spcAft>
                <a:spcPts val="600"/>
              </a:spcAft>
            </a:pPr>
            <a:r>
              <a:rPr sz="1400" b="0" i="0">
                <a:solidFill>
                  <a:srgbClr val="1A1E27"/>
                </a:solidFill>
                <a:latin typeface="Segoe UI"/>
              </a:rPr>
              <a:t>Koog gives the agent memory and model-portability, so it isn't reinvented from scratch.</a:t>
            </a:r>
          </a:p>
        </p:txBody>
      </p:sp>
      <p:sp>
        <p:nvSpPr>
          <p:cNvPr id="8" name="Rounded Rectangle 7"/>
          <p:cNvSpPr/>
          <p:nvPr/>
        </p:nvSpPr>
        <p:spPr>
          <a:xfrm>
            <a:off x="868680" y="2331720"/>
            <a:ext cx="10424160" cy="2194560"/>
          </a:xfrm>
          <a:prstGeom prst="roundRect">
            <a:avLst>
              <a:gd name="adj" fmla="val 8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68680" y="2331720"/>
            <a:ext cx="10424160" cy="73152"/>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9848" y="2532888"/>
            <a:ext cx="10021824" cy="1828800"/>
          </a:xfrm>
          <a:prstGeom prst="rect">
            <a:avLst/>
          </a:prstGeom>
          <a:noFill/>
        </p:spPr>
        <p:txBody>
          <a:bodyPr wrap="square" lIns="0" tIns="0" rIns="0" bIns="0" anchor="t">
            <a:spAutoFit/>
          </a:bodyPr>
          <a:lstStyle/>
          <a:p>
            <a:pPr algn="l">
              <a:spcAft>
                <a:spcPts val="800"/>
              </a:spcAft>
            </a:pPr>
            <a:r>
              <a:rPr sz="1500" b="1" i="0">
                <a:solidFill>
                  <a:srgbClr val="1A1E27"/>
                </a:solidFill>
                <a:latin typeface="Segoe UI Semibold"/>
              </a:rPr>
              <a:t>Why it's in the stack</a:t>
            </a:r>
          </a:p>
          <a:p>
            <a:pPr algn="l">
              <a:spcAft>
                <a:spcPts val="500"/>
              </a:spcAft>
            </a:pPr>
            <a:r>
              <a:rPr sz="1250" b="0" i="0">
                <a:solidFill>
                  <a:srgbClr val="4A5260"/>
                </a:solidFill>
                <a:latin typeface="Segoe UI"/>
              </a:rPr>
              <a:t>•  Handles conversation history / context summarization across turns</a:t>
            </a:r>
          </a:p>
          <a:p>
            <a:pPr algn="l">
              <a:spcAft>
                <a:spcPts val="500"/>
              </a:spcAft>
            </a:pPr>
            <a:r>
              <a:rPr sz="1250" b="0" i="0">
                <a:solidFill>
                  <a:srgbClr val="4A5260"/>
                </a:solidFill>
                <a:latin typeface="Segoe UI"/>
              </a:rPr>
              <a:t>•  Lets the agent move sessions between LLM backends — local today, cloud on fallback, or a different model tomorrow — without losing context</a:t>
            </a:r>
          </a:p>
          <a:p>
            <a:pPr algn="l">
              <a:spcAft>
                <a:spcPts val="500"/>
              </a:spcAft>
            </a:pPr>
            <a:r>
              <a:rPr sz="1250" b="0" i="0">
                <a:solidFill>
                  <a:srgbClr val="4A5260"/>
                </a:solidFill>
                <a:latin typeface="Segoe UI"/>
              </a:rPr>
              <a:t>•  Solves the same problem LangChain / LangGraph solve on the Python side — Koog is that role for this stack</a:t>
            </a:r>
          </a:p>
          <a:p>
            <a:pPr algn="l">
              <a:spcAft>
                <a:spcPts val="500"/>
              </a:spcAft>
            </a:pPr>
            <a:r>
              <a:rPr sz="1250" b="0" i="0">
                <a:solidFill>
                  <a:srgbClr val="4A5260"/>
                </a:solidFill>
                <a:latin typeface="Segoe UI"/>
              </a:rPr>
              <a:t>•  Without it: every local↔cloud handoff would either drop context or need hand-rolled summarization</a:t>
            </a:r>
          </a:p>
        </p:txBody>
      </p:sp>
      <p:sp>
        <p:nvSpPr>
          <p:cNvPr id="11" name="Rounded Rectangle 10"/>
          <p:cNvSpPr/>
          <p:nvPr/>
        </p:nvSpPr>
        <p:spPr>
          <a:xfrm>
            <a:off x="1737360" y="4846320"/>
            <a:ext cx="3291840" cy="822960"/>
          </a:xfrm>
          <a:prstGeom prst="roundRect">
            <a:avLst>
              <a:gd name="adj" fmla="val 15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300" b="1" i="0">
                <a:solidFill>
                  <a:srgbClr val="1A1E27"/>
                </a:solidFill>
                <a:latin typeface="Segoe UI"/>
              </a:rPr>
              <a:t>Session context</a:t>
            </a:r>
          </a:p>
          <a:p>
            <a:pPr algn="ctr">
              <a:spcAft>
                <a:spcPts val="600"/>
              </a:spcAft>
            </a:pPr>
            <a:r>
              <a:rPr sz="1100" b="0" i="0">
                <a:solidFill>
                  <a:srgbClr val="4A5260"/>
                </a:solidFill>
                <a:latin typeface="Segoe UI"/>
              </a:rPr>
              <a:t>(persists)</a:t>
            </a:r>
          </a:p>
        </p:txBody>
      </p:sp>
      <p:cxnSp>
        <p:nvCxnSpPr>
          <p:cNvPr id="12" name="Connector 11"/>
          <p:cNvCxnSpPr/>
          <p:nvPr/>
        </p:nvCxnSpPr>
        <p:spPr>
          <a:xfrm>
            <a:off x="5029200" y="5257800"/>
            <a:ext cx="548640" cy="0"/>
          </a:xfrm>
          <a:prstGeom prst="line">
            <a:avLst/>
          </a:prstGeom>
          <a:ln w="28575">
            <a:solidFill>
              <a:srgbClr val="0B63C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4846320"/>
            <a:ext cx="3291840" cy="822960"/>
          </a:xfrm>
          <a:prstGeom prst="roundRect">
            <a:avLst>
              <a:gd name="adj" fmla="val 15000"/>
            </a:avLst>
          </a:prstGeom>
          <a:solidFill>
            <a:srgbClr val="E9F2FC"/>
          </a:solidFill>
          <a:ln w="15875">
            <a:solidFill>
              <a:srgbClr val="0B63C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300" b="1" i="0">
                <a:solidFill>
                  <a:srgbClr val="083D82"/>
                </a:solidFill>
                <a:latin typeface="Segoe UI"/>
              </a:rPr>
              <a:t>Model A → Model B</a:t>
            </a:r>
          </a:p>
          <a:p>
            <a:pPr algn="ctr">
              <a:spcAft>
                <a:spcPts val="600"/>
              </a:spcAft>
            </a:pPr>
            <a:r>
              <a:rPr sz="1100" b="0" i="0">
                <a:solidFill>
                  <a:srgbClr val="083D82"/>
                </a:solidFill>
                <a:latin typeface="Segoe UI"/>
              </a:rPr>
              <a:t>via Koog</a:t>
            </a:r>
          </a:p>
        </p:txBody>
      </p:sp>
      <p:sp>
        <p:nvSpPr>
          <p:cNvPr id="14" name="TextBox 13"/>
          <p:cNvSpPr txBox="1"/>
          <p:nvPr/>
        </p:nvSpPr>
        <p:spPr>
          <a:xfrm>
            <a:off x="548640" y="6510528"/>
            <a:ext cx="7315200" cy="274320"/>
          </a:xfrm>
          <a:prstGeom prst="rect">
            <a:avLst/>
          </a:prstGeom>
          <a:noFill/>
        </p:spPr>
        <p:txBody>
          <a:bodyPr wrap="square" lIns="0" tIns="0" rIns="0" bIns="0" anchor="t">
            <a:spAutoFit/>
          </a:bodyPr>
          <a:lstStyle/>
          <a:p>
            <a:pPr algn="l">
              <a:spcAft>
                <a:spcPts val="600"/>
              </a:spcAft>
            </a:pPr>
            <a:r>
              <a:rPr sz="1000" b="0" i="0">
                <a:solidFill>
                  <a:srgbClr val="4A5260"/>
                </a:solidFill>
                <a:latin typeface="Segoe UI"/>
              </a:rPr>
              <a:t>AI-Powered Allergen Detection  |  AR Glasses · Edge AI · Multipath QUIC</a:t>
            </a:r>
          </a:p>
        </p:txBody>
      </p:sp>
      <p:sp>
        <p:nvSpPr>
          <p:cNvPr id="15" name="TextBox 14"/>
          <p:cNvSpPr txBox="1"/>
          <p:nvPr/>
        </p:nvSpPr>
        <p:spPr>
          <a:xfrm>
            <a:off x="10881360" y="6510528"/>
            <a:ext cx="822960" cy="274320"/>
          </a:xfrm>
          <a:prstGeom prst="rect">
            <a:avLst/>
          </a:prstGeom>
          <a:noFill/>
        </p:spPr>
        <p:txBody>
          <a:bodyPr wrap="square" lIns="0" tIns="0" rIns="0" bIns="0" anchor="t">
            <a:spAutoFit/>
          </a:bodyPr>
          <a:lstStyle/>
          <a:p>
            <a:pPr algn="r">
              <a:spcAft>
                <a:spcPts val="600"/>
              </a:spcAft>
            </a:pPr>
            <a:r>
              <a:rPr sz="1000" b="0" i="0">
                <a:solidFill>
                  <a:srgbClr val="4A5260"/>
                </a:solidFill>
                <a:latin typeface="Segoe UI"/>
              </a:rPr>
              <a:t>Appendix A</a:t>
            </a:r>
          </a:p>
        </p:txBody>
      </p:sp>
      <p:sp>
        <p:nvSpPr>
          <p:cNvPr id="16" name="Rectangle 15"/>
          <p:cNvSpPr/>
          <p:nvPr/>
        </p:nvSpPr>
        <p:spPr>
          <a:xfrm>
            <a:off x="548640" y="6419088"/>
            <a:ext cx="11091672" cy="12700"/>
          </a:xfrm>
          <a:prstGeom prst="rect">
            <a:avLst/>
          </a:prstGeom>
          <a:solidFill>
            <a:srgbClr val="DC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457200"/>
            <a:ext cx="128016" cy="777240"/>
          </a:xfrm>
          <a:prstGeom prst="rect">
            <a:avLst/>
          </a:prstGeom>
          <a:solidFill>
            <a:srgbClr val="B5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384048"/>
            <a:ext cx="10698480" cy="320040"/>
          </a:xfrm>
          <a:prstGeom prst="rect">
            <a:avLst/>
          </a:prstGeom>
          <a:noFill/>
        </p:spPr>
        <p:txBody>
          <a:bodyPr wrap="square" lIns="0" tIns="0" rIns="0" bIns="0" anchor="t">
            <a:spAutoFit/>
          </a:bodyPr>
          <a:lstStyle/>
          <a:p>
            <a:pPr algn="l">
              <a:spcAft>
                <a:spcPts val="600"/>
              </a:spcAft>
            </a:pPr>
            <a:r>
              <a:rPr sz="1300" b="1" i="0">
                <a:solidFill>
                  <a:srgbClr val="B56A0A"/>
                </a:solidFill>
                <a:latin typeface="Segoe UI"/>
              </a:rPr>
              <a:t>APPENDIX · Q&amp;A BACKUP</a:t>
            </a:r>
          </a:p>
        </p:txBody>
      </p:sp>
      <p:sp>
        <p:nvSpPr>
          <p:cNvPr id="5" name="TextBox 4"/>
          <p:cNvSpPr txBox="1"/>
          <p:nvPr/>
        </p:nvSpPr>
        <p:spPr>
          <a:xfrm>
            <a:off x="868680" y="658368"/>
            <a:ext cx="10698480" cy="685800"/>
          </a:xfrm>
          <a:prstGeom prst="rect">
            <a:avLst/>
          </a:prstGeom>
          <a:noFill/>
        </p:spPr>
        <p:txBody>
          <a:bodyPr wrap="square" lIns="0" tIns="0" rIns="0" bIns="0" anchor="t">
            <a:spAutoFit/>
          </a:bodyPr>
          <a:lstStyle/>
          <a:p>
            <a:pPr algn="l">
              <a:spcAft>
                <a:spcPts val="600"/>
              </a:spcAft>
            </a:pPr>
            <a:r>
              <a:rPr sz="3000" b="1" i="0">
                <a:solidFill>
                  <a:srgbClr val="1A1E27"/>
                </a:solidFill>
                <a:latin typeface="Segoe UI Semibold"/>
              </a:rPr>
              <a:t>Why Multipath QUIC (Tencent tquic)?</a:t>
            </a:r>
          </a:p>
        </p:txBody>
      </p:sp>
      <p:sp>
        <p:nvSpPr>
          <p:cNvPr id="6" name="Rounded Rectangle 5"/>
          <p:cNvSpPr/>
          <p:nvPr/>
        </p:nvSpPr>
        <p:spPr>
          <a:xfrm>
            <a:off x="868680" y="1417320"/>
            <a:ext cx="10424160" cy="822960"/>
          </a:xfrm>
          <a:prstGeom prst="roundRect">
            <a:avLst>
              <a:gd name="adj" fmla="val 10000"/>
            </a:avLst>
          </a:prstGeom>
          <a:solidFill>
            <a:srgbClr val="FC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563624"/>
            <a:ext cx="9966960" cy="548640"/>
          </a:xfrm>
          <a:prstGeom prst="rect">
            <a:avLst/>
          </a:prstGeom>
          <a:noFill/>
        </p:spPr>
        <p:txBody>
          <a:bodyPr wrap="square" lIns="0" tIns="0" rIns="0" bIns="0" anchor="t">
            <a:spAutoFit/>
          </a:bodyPr>
          <a:lstStyle/>
          <a:p>
            <a:pPr algn="l">
              <a:spcAft>
                <a:spcPts val="300"/>
              </a:spcAft>
            </a:pPr>
            <a:r>
              <a:rPr sz="1100" b="1" i="0">
                <a:solidFill>
                  <a:srgbClr val="B56A0A"/>
                </a:solidFill>
                <a:latin typeface="Segoe UI"/>
              </a:rPr>
              <a:t>KEY MESSAGE</a:t>
            </a:r>
          </a:p>
          <a:p>
            <a:pPr algn="l">
              <a:spcAft>
                <a:spcPts val="600"/>
              </a:spcAft>
            </a:pPr>
            <a:r>
              <a:rPr sz="1400" b="0" i="0">
                <a:solidFill>
                  <a:srgbClr val="1A1E27"/>
                </a:solidFill>
                <a:latin typeface="Segoe UI"/>
              </a:rPr>
              <a:t>Multiple paths exist for two reasons — reliability and aggregate throughput — and a smart scheduler picks the best one in real time instead of just tolerating whichever one you're stuck on.</a:t>
            </a:r>
          </a:p>
        </p:txBody>
      </p:sp>
      <p:sp>
        <p:nvSpPr>
          <p:cNvPr id="8" name="Rounded Rectangle 7"/>
          <p:cNvSpPr/>
          <p:nvPr/>
        </p:nvSpPr>
        <p:spPr>
          <a:xfrm>
            <a:off x="868680" y="2423160"/>
            <a:ext cx="5074920" cy="2377440"/>
          </a:xfrm>
          <a:prstGeom prst="roundRect">
            <a:avLst>
              <a:gd name="adj" fmla="val 8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68680" y="2423160"/>
            <a:ext cx="5074920" cy="73152"/>
          </a:xfrm>
          <a:prstGeom prst="rect">
            <a:avLst/>
          </a:prstGeom>
          <a:solidFill>
            <a:srgbClr val="B5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9848" y="2624328"/>
            <a:ext cx="4672584" cy="2011680"/>
          </a:xfrm>
          <a:prstGeom prst="rect">
            <a:avLst/>
          </a:prstGeom>
          <a:noFill/>
        </p:spPr>
        <p:txBody>
          <a:bodyPr wrap="square" lIns="0" tIns="0" rIns="0" bIns="0" anchor="t">
            <a:spAutoFit/>
          </a:bodyPr>
          <a:lstStyle/>
          <a:p>
            <a:pPr algn="l">
              <a:spcAft>
                <a:spcPts val="800"/>
              </a:spcAft>
            </a:pPr>
            <a:r>
              <a:rPr sz="1500" b="1" i="0">
                <a:solidFill>
                  <a:srgbClr val="1A1E27"/>
                </a:solidFill>
                <a:latin typeface="Segoe UI Semibold"/>
              </a:rPr>
              <a:t>Single path (the problem)</a:t>
            </a:r>
          </a:p>
          <a:p>
            <a:pPr algn="l">
              <a:spcAft>
                <a:spcPts val="500"/>
              </a:spcAft>
            </a:pPr>
            <a:r>
              <a:rPr sz="1250" b="0" i="0">
                <a:solidFill>
                  <a:srgbClr val="4A5260"/>
                </a:solidFill>
                <a:latin typeface="Segoe UI"/>
              </a:rPr>
              <a:t>•  Bad Wi-Fi signal? You just suffer through it</a:t>
            </a:r>
          </a:p>
          <a:p>
            <a:pPr algn="l">
              <a:spcAft>
                <a:spcPts val="500"/>
              </a:spcAft>
            </a:pPr>
            <a:r>
              <a:rPr sz="1250" b="0" i="0">
                <a:solidFill>
                  <a:srgbClr val="4A5260"/>
                </a:solidFill>
                <a:latin typeface="Segoe UI"/>
              </a:rPr>
              <a:t>•  The connection has no idea a better path exists</a:t>
            </a:r>
          </a:p>
          <a:p>
            <a:pPr algn="l">
              <a:spcAft>
                <a:spcPts val="500"/>
              </a:spcAft>
            </a:pPr>
            <a:r>
              <a:rPr sz="1250" b="0" i="0">
                <a:solidFill>
                  <a:srgbClr val="4A5260"/>
                </a:solidFill>
                <a:latin typeface="Segoe UI"/>
              </a:rPr>
              <a:t>•  One degrading link → one degrading experience</a:t>
            </a:r>
          </a:p>
        </p:txBody>
      </p:sp>
      <p:sp>
        <p:nvSpPr>
          <p:cNvPr id="11" name="Rounded Rectangle 10"/>
          <p:cNvSpPr/>
          <p:nvPr/>
        </p:nvSpPr>
        <p:spPr>
          <a:xfrm>
            <a:off x="6172200" y="2423160"/>
            <a:ext cx="5120640" cy="2377440"/>
          </a:xfrm>
          <a:prstGeom prst="roundRect">
            <a:avLst>
              <a:gd name="adj" fmla="val 8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2423160"/>
            <a:ext cx="5120640" cy="73152"/>
          </a:xfrm>
          <a:prstGeom prst="rect">
            <a:avLst/>
          </a:prstGeom>
          <a:solidFill>
            <a:srgbClr val="B5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3368" y="2624328"/>
            <a:ext cx="4718304" cy="2011680"/>
          </a:xfrm>
          <a:prstGeom prst="rect">
            <a:avLst/>
          </a:prstGeom>
          <a:noFill/>
        </p:spPr>
        <p:txBody>
          <a:bodyPr wrap="square" lIns="0" tIns="0" rIns="0" bIns="0" anchor="t">
            <a:spAutoFit/>
          </a:bodyPr>
          <a:lstStyle/>
          <a:p>
            <a:pPr algn="l">
              <a:spcAft>
                <a:spcPts val="800"/>
              </a:spcAft>
            </a:pPr>
            <a:r>
              <a:rPr sz="1500" b="1" i="0">
                <a:solidFill>
                  <a:srgbClr val="1A1E27"/>
                </a:solidFill>
                <a:latin typeface="Segoe UI Semibold"/>
              </a:rPr>
              <a:t>Multipath QUIC (the fix)</a:t>
            </a:r>
          </a:p>
          <a:p>
            <a:pPr algn="l">
              <a:spcAft>
                <a:spcPts val="500"/>
              </a:spcAft>
            </a:pPr>
            <a:r>
              <a:rPr sz="1250" b="0" i="0">
                <a:solidFill>
                  <a:srgbClr val="4A5260"/>
                </a:solidFill>
                <a:latin typeface="Segoe UI"/>
              </a:rPr>
              <a:t>•  Client holds Wi-Fi and 5G open simultaneously</a:t>
            </a:r>
          </a:p>
          <a:p>
            <a:pPr algn="l">
              <a:spcAft>
                <a:spcPts val="500"/>
              </a:spcAft>
            </a:pPr>
            <a:r>
              <a:rPr sz="1250" b="0" i="0">
                <a:solidFill>
                  <a:srgbClr val="4A5260"/>
                </a:solidFill>
                <a:latin typeface="Segoe UI"/>
              </a:rPr>
              <a:t>•  minrtt scheduler routes traffic over whichever path currently measures best round-trip time</a:t>
            </a:r>
          </a:p>
          <a:p>
            <a:pPr algn="l">
              <a:spcAft>
                <a:spcPts val="500"/>
              </a:spcAft>
            </a:pPr>
            <a:r>
              <a:rPr sz="1250" b="0" i="0">
                <a:solidFill>
                  <a:srgbClr val="4A5260"/>
                </a:solidFill>
                <a:latin typeface="Segoe UI"/>
              </a:rPr>
              <a:t>•  Can shift away from a degrading path without dropping the connection</a:t>
            </a:r>
          </a:p>
          <a:p>
            <a:pPr algn="l">
              <a:spcAft>
                <a:spcPts val="500"/>
              </a:spcAft>
            </a:pPr>
            <a:r>
              <a:rPr sz="1250" b="0" i="0">
                <a:solidFill>
                  <a:srgbClr val="4A5260"/>
                </a:solidFill>
                <a:latin typeface="Segoe UI"/>
              </a:rPr>
              <a:t>•  Not just failover — continuous best-path selection, with the option to aggregate both for higher throughput</a:t>
            </a:r>
          </a:p>
        </p:txBody>
      </p:sp>
      <p:sp>
        <p:nvSpPr>
          <p:cNvPr id="14" name="TextBox 13"/>
          <p:cNvSpPr txBox="1"/>
          <p:nvPr/>
        </p:nvSpPr>
        <p:spPr>
          <a:xfrm>
            <a:off x="548640" y="6510528"/>
            <a:ext cx="7315200" cy="274320"/>
          </a:xfrm>
          <a:prstGeom prst="rect">
            <a:avLst/>
          </a:prstGeom>
          <a:noFill/>
        </p:spPr>
        <p:txBody>
          <a:bodyPr wrap="square" lIns="0" tIns="0" rIns="0" bIns="0" anchor="t">
            <a:spAutoFit/>
          </a:bodyPr>
          <a:lstStyle/>
          <a:p>
            <a:pPr algn="l">
              <a:spcAft>
                <a:spcPts val="600"/>
              </a:spcAft>
            </a:pPr>
            <a:r>
              <a:rPr sz="1000" b="0" i="0">
                <a:solidFill>
                  <a:srgbClr val="4A5260"/>
                </a:solidFill>
                <a:latin typeface="Segoe UI"/>
              </a:rPr>
              <a:t>AI-Powered Allergen Detection  |  AR Glasses · Edge AI · Multipath QUIC</a:t>
            </a:r>
          </a:p>
        </p:txBody>
      </p:sp>
      <p:sp>
        <p:nvSpPr>
          <p:cNvPr id="15" name="TextBox 14"/>
          <p:cNvSpPr txBox="1"/>
          <p:nvPr/>
        </p:nvSpPr>
        <p:spPr>
          <a:xfrm>
            <a:off x="10881360" y="6510528"/>
            <a:ext cx="822960" cy="274320"/>
          </a:xfrm>
          <a:prstGeom prst="rect">
            <a:avLst/>
          </a:prstGeom>
          <a:noFill/>
        </p:spPr>
        <p:txBody>
          <a:bodyPr wrap="square" lIns="0" tIns="0" rIns="0" bIns="0" anchor="t">
            <a:spAutoFit/>
          </a:bodyPr>
          <a:lstStyle/>
          <a:p>
            <a:pPr algn="r">
              <a:spcAft>
                <a:spcPts val="600"/>
              </a:spcAft>
            </a:pPr>
            <a:r>
              <a:rPr sz="1000" b="0" i="0">
                <a:solidFill>
                  <a:srgbClr val="4A5260"/>
                </a:solidFill>
                <a:latin typeface="Segoe UI"/>
              </a:rPr>
              <a:t>Appendix B</a:t>
            </a:r>
          </a:p>
        </p:txBody>
      </p:sp>
      <p:sp>
        <p:nvSpPr>
          <p:cNvPr id="16" name="Rectangle 15"/>
          <p:cNvSpPr/>
          <p:nvPr/>
        </p:nvSpPr>
        <p:spPr>
          <a:xfrm>
            <a:off x="548640" y="6419088"/>
            <a:ext cx="11091672" cy="12700"/>
          </a:xfrm>
          <a:prstGeom prst="rect">
            <a:avLst/>
          </a:prstGeom>
          <a:solidFill>
            <a:srgbClr val="DC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457200"/>
            <a:ext cx="128016" cy="777240"/>
          </a:xfrm>
          <a:prstGeom prst="rect">
            <a:avLst/>
          </a:prstGeom>
          <a:solidFill>
            <a:srgbClr val="1E7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384048"/>
            <a:ext cx="10698480" cy="320040"/>
          </a:xfrm>
          <a:prstGeom prst="rect">
            <a:avLst/>
          </a:prstGeom>
          <a:noFill/>
        </p:spPr>
        <p:txBody>
          <a:bodyPr wrap="square" lIns="0" tIns="0" rIns="0" bIns="0" anchor="t">
            <a:spAutoFit/>
          </a:bodyPr>
          <a:lstStyle/>
          <a:p>
            <a:pPr algn="l">
              <a:spcAft>
                <a:spcPts val="600"/>
              </a:spcAft>
            </a:pPr>
            <a:r>
              <a:rPr sz="1300" b="1" i="0">
                <a:solidFill>
                  <a:srgbClr val="1E7A4C"/>
                </a:solidFill>
                <a:latin typeface="Segoe UI"/>
              </a:rPr>
              <a:t>APPENDIX · Q&amp;A BACKUP</a:t>
            </a:r>
          </a:p>
        </p:txBody>
      </p:sp>
      <p:sp>
        <p:nvSpPr>
          <p:cNvPr id="5" name="TextBox 4"/>
          <p:cNvSpPr txBox="1"/>
          <p:nvPr/>
        </p:nvSpPr>
        <p:spPr>
          <a:xfrm>
            <a:off x="868680" y="658368"/>
            <a:ext cx="10698480" cy="685800"/>
          </a:xfrm>
          <a:prstGeom prst="rect">
            <a:avLst/>
          </a:prstGeom>
          <a:noFill/>
        </p:spPr>
        <p:txBody>
          <a:bodyPr wrap="square" lIns="0" tIns="0" rIns="0" bIns="0" anchor="t">
            <a:spAutoFit/>
          </a:bodyPr>
          <a:lstStyle/>
          <a:p>
            <a:pPr algn="l">
              <a:spcAft>
                <a:spcPts val="600"/>
              </a:spcAft>
            </a:pPr>
            <a:r>
              <a:rPr sz="3000" b="1" i="0">
                <a:solidFill>
                  <a:srgbClr val="1A1E27"/>
                </a:solidFill>
                <a:latin typeface="Segoe UI Semibold"/>
              </a:rPr>
              <a:t>Why mDNS?</a:t>
            </a:r>
          </a:p>
        </p:txBody>
      </p:sp>
      <p:sp>
        <p:nvSpPr>
          <p:cNvPr id="6" name="Rounded Rectangle 5"/>
          <p:cNvSpPr/>
          <p:nvPr/>
        </p:nvSpPr>
        <p:spPr>
          <a:xfrm>
            <a:off x="868680" y="1417320"/>
            <a:ext cx="10424160" cy="685800"/>
          </a:xfrm>
          <a:prstGeom prst="roundRect">
            <a:avLst>
              <a:gd name="adj" fmla="val 10000"/>
            </a:avLst>
          </a:prstGeom>
          <a:solidFill>
            <a:srgbClr val="E9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563624"/>
            <a:ext cx="9966960" cy="411480"/>
          </a:xfrm>
          <a:prstGeom prst="rect">
            <a:avLst/>
          </a:prstGeom>
          <a:noFill/>
        </p:spPr>
        <p:txBody>
          <a:bodyPr wrap="square" lIns="0" tIns="0" rIns="0" bIns="0" anchor="t">
            <a:spAutoFit/>
          </a:bodyPr>
          <a:lstStyle/>
          <a:p>
            <a:pPr algn="l">
              <a:spcAft>
                <a:spcPts val="300"/>
              </a:spcAft>
            </a:pPr>
            <a:r>
              <a:rPr sz="1100" b="1" i="0">
                <a:solidFill>
                  <a:srgbClr val="083D82"/>
                </a:solidFill>
                <a:latin typeface="Segoe UI"/>
              </a:rPr>
              <a:t>KEY MESSAGE</a:t>
            </a:r>
          </a:p>
          <a:p>
            <a:pPr algn="l">
              <a:spcAft>
                <a:spcPts val="600"/>
              </a:spcAft>
            </a:pPr>
            <a:r>
              <a:rPr sz="1400" b="0" i="0">
                <a:solidFill>
                  <a:srgbClr val="1A1E27"/>
                </a:solidFill>
                <a:latin typeface="Segoe UI"/>
              </a:rPr>
              <a:t>mDNS lets the phone find nearby AI-capable devices with zero user setup.</a:t>
            </a:r>
          </a:p>
        </p:txBody>
      </p:sp>
      <p:sp>
        <p:nvSpPr>
          <p:cNvPr id="8" name="Rounded Rectangle 7"/>
          <p:cNvSpPr/>
          <p:nvPr/>
        </p:nvSpPr>
        <p:spPr>
          <a:xfrm>
            <a:off x="868680" y="2331720"/>
            <a:ext cx="10424160" cy="2011680"/>
          </a:xfrm>
          <a:prstGeom prst="roundRect">
            <a:avLst>
              <a:gd name="adj" fmla="val 8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68680" y="2331720"/>
            <a:ext cx="10424160" cy="73152"/>
          </a:xfrm>
          <a:prstGeom prst="rect">
            <a:avLst/>
          </a:prstGeom>
          <a:solidFill>
            <a:srgbClr val="1E7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9848" y="2532888"/>
            <a:ext cx="10021824" cy="1645920"/>
          </a:xfrm>
          <a:prstGeom prst="rect">
            <a:avLst/>
          </a:prstGeom>
          <a:noFill/>
        </p:spPr>
        <p:txBody>
          <a:bodyPr wrap="square" lIns="0" tIns="0" rIns="0" bIns="0" anchor="t">
            <a:spAutoFit/>
          </a:bodyPr>
          <a:lstStyle/>
          <a:p>
            <a:pPr algn="l">
              <a:spcAft>
                <a:spcPts val="800"/>
              </a:spcAft>
            </a:pPr>
            <a:r>
              <a:rPr sz="1500" b="1" i="0">
                <a:solidFill>
                  <a:srgbClr val="1A1E27"/>
                </a:solidFill>
                <a:latin typeface="Segoe UI Semibold"/>
              </a:rPr>
              <a:t>Why it's the right tool</a:t>
            </a:r>
          </a:p>
          <a:p>
            <a:pPr algn="l">
              <a:spcAft>
                <a:spcPts val="500"/>
              </a:spcAft>
            </a:pPr>
            <a:r>
              <a:rPr sz="1250" b="0" i="0">
                <a:solidFill>
                  <a:srgbClr val="4A5260"/>
                </a:solidFill>
                <a:latin typeface="Segoe UI"/>
              </a:rPr>
              <a:t>•  Discovers available devices and services on the LAN — no manual IP entry, no pairing</a:t>
            </a:r>
          </a:p>
          <a:p>
            <a:pPr algn="l">
              <a:spcAft>
                <a:spcPts val="500"/>
              </a:spcAft>
            </a:pPr>
            <a:r>
              <a:rPr sz="1250" b="0" i="0">
                <a:solidFill>
                  <a:srgbClr val="4A5260"/>
                </a:solidFill>
                <a:latin typeface="Segoe UI"/>
              </a:rPr>
              <a:t>•  Same category of “just works” discovery as finding a nearby printer or Chromecast</a:t>
            </a:r>
          </a:p>
          <a:p>
            <a:pPr algn="l">
              <a:spcAft>
                <a:spcPts val="500"/>
              </a:spcAft>
            </a:pPr>
            <a:r>
              <a:rPr sz="1250" b="0" i="0">
                <a:solidFill>
                  <a:srgbClr val="4A5260"/>
                </a:solidFill>
                <a:latin typeface="Segoe UI"/>
              </a:rPr>
              <a:t>•  Local-first only works as an experience if discovery is invisible to the user</a:t>
            </a:r>
          </a:p>
        </p:txBody>
      </p:sp>
      <p:sp>
        <p:nvSpPr>
          <p:cNvPr id="11" name="Rounded Rectangle 10"/>
          <p:cNvSpPr/>
          <p:nvPr/>
        </p:nvSpPr>
        <p:spPr>
          <a:xfrm>
            <a:off x="1920240" y="4617720"/>
            <a:ext cx="3108960" cy="914400"/>
          </a:xfrm>
          <a:prstGeom prst="roundRect">
            <a:avLst>
              <a:gd name="adj" fmla="val 15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300" b="1" i="0">
                <a:solidFill>
                  <a:srgbClr val="1A1E27"/>
                </a:solidFill>
                <a:latin typeface="Segoe UI"/>
              </a:rPr>
              <a:t>Phone</a:t>
            </a:r>
          </a:p>
          <a:p>
            <a:pPr algn="ctr">
              <a:spcAft>
                <a:spcPts val="600"/>
              </a:spcAft>
            </a:pPr>
            <a:r>
              <a:rPr sz="1100" b="0" i="0">
                <a:solidFill>
                  <a:srgbClr val="4A5260"/>
                </a:solidFill>
                <a:latin typeface="Segoe UI"/>
              </a:rPr>
              <a:t>silently broadcasts a query</a:t>
            </a:r>
          </a:p>
        </p:txBody>
      </p:sp>
      <p:cxnSp>
        <p:nvCxnSpPr>
          <p:cNvPr id="12" name="Connector 11"/>
          <p:cNvCxnSpPr/>
          <p:nvPr/>
        </p:nvCxnSpPr>
        <p:spPr>
          <a:xfrm>
            <a:off x="5029200" y="5074920"/>
            <a:ext cx="548640" cy="0"/>
          </a:xfrm>
          <a:prstGeom prst="line">
            <a:avLst/>
          </a:prstGeom>
          <a:ln w="28575">
            <a:solidFill>
              <a:srgbClr val="1E7A4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4617720"/>
            <a:ext cx="3108960" cy="914400"/>
          </a:xfrm>
          <a:prstGeom prst="roundRect">
            <a:avLst>
              <a:gd name="adj" fmla="val 15000"/>
            </a:avLst>
          </a:prstGeom>
          <a:solidFill>
            <a:srgbClr val="EEF7F1"/>
          </a:solidFill>
          <a:ln w="15875">
            <a:solidFill>
              <a:srgbClr val="1E7A4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300" b="1" i="0">
                <a:solidFill>
                  <a:srgbClr val="1E7A4C"/>
                </a:solidFill>
                <a:latin typeface="Segoe UI"/>
              </a:rPr>
              <a:t>X Elite host</a:t>
            </a:r>
          </a:p>
          <a:p>
            <a:pPr algn="ctr">
              <a:spcAft>
                <a:spcPts val="600"/>
              </a:spcAft>
            </a:pPr>
            <a:r>
              <a:rPr sz="1100" b="0" i="0">
                <a:solidFill>
                  <a:srgbClr val="1E7A4C"/>
                </a:solidFill>
                <a:latin typeface="Segoe UI"/>
              </a:rPr>
              <a:t>responds — no UI, no user action</a:t>
            </a:r>
          </a:p>
        </p:txBody>
      </p:sp>
      <p:sp>
        <p:nvSpPr>
          <p:cNvPr id="14" name="TextBox 13"/>
          <p:cNvSpPr txBox="1"/>
          <p:nvPr/>
        </p:nvSpPr>
        <p:spPr>
          <a:xfrm>
            <a:off x="548640" y="6510528"/>
            <a:ext cx="7315200" cy="274320"/>
          </a:xfrm>
          <a:prstGeom prst="rect">
            <a:avLst/>
          </a:prstGeom>
          <a:noFill/>
        </p:spPr>
        <p:txBody>
          <a:bodyPr wrap="square" lIns="0" tIns="0" rIns="0" bIns="0" anchor="t">
            <a:spAutoFit/>
          </a:bodyPr>
          <a:lstStyle/>
          <a:p>
            <a:pPr algn="l">
              <a:spcAft>
                <a:spcPts val="600"/>
              </a:spcAft>
            </a:pPr>
            <a:r>
              <a:rPr sz="1000" b="0" i="0">
                <a:solidFill>
                  <a:srgbClr val="4A5260"/>
                </a:solidFill>
                <a:latin typeface="Segoe UI"/>
              </a:rPr>
              <a:t>AI-Powered Allergen Detection  |  AR Glasses · Edge AI · Multipath QUIC</a:t>
            </a:r>
          </a:p>
        </p:txBody>
      </p:sp>
      <p:sp>
        <p:nvSpPr>
          <p:cNvPr id="15" name="TextBox 14"/>
          <p:cNvSpPr txBox="1"/>
          <p:nvPr/>
        </p:nvSpPr>
        <p:spPr>
          <a:xfrm>
            <a:off x="10881360" y="6510528"/>
            <a:ext cx="822960" cy="274320"/>
          </a:xfrm>
          <a:prstGeom prst="rect">
            <a:avLst/>
          </a:prstGeom>
          <a:noFill/>
        </p:spPr>
        <p:txBody>
          <a:bodyPr wrap="square" lIns="0" tIns="0" rIns="0" bIns="0" anchor="t">
            <a:spAutoFit/>
          </a:bodyPr>
          <a:lstStyle/>
          <a:p>
            <a:pPr algn="r">
              <a:spcAft>
                <a:spcPts val="600"/>
              </a:spcAft>
            </a:pPr>
            <a:r>
              <a:rPr sz="1000" b="0" i="0">
                <a:solidFill>
                  <a:srgbClr val="4A5260"/>
                </a:solidFill>
                <a:latin typeface="Segoe UI"/>
              </a:rPr>
              <a:t>Appendix C</a:t>
            </a:r>
          </a:p>
        </p:txBody>
      </p:sp>
      <p:sp>
        <p:nvSpPr>
          <p:cNvPr id="16" name="Rectangle 15"/>
          <p:cNvSpPr/>
          <p:nvPr/>
        </p:nvSpPr>
        <p:spPr>
          <a:xfrm>
            <a:off x="548640" y="6419088"/>
            <a:ext cx="11091672" cy="12700"/>
          </a:xfrm>
          <a:prstGeom prst="rect">
            <a:avLst/>
          </a:prstGeom>
          <a:solidFill>
            <a:srgbClr val="DC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457200"/>
            <a:ext cx="128016" cy="777240"/>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384048"/>
            <a:ext cx="10698480" cy="320040"/>
          </a:xfrm>
          <a:prstGeom prst="rect">
            <a:avLst/>
          </a:prstGeom>
          <a:noFill/>
        </p:spPr>
        <p:txBody>
          <a:bodyPr wrap="square" lIns="0" tIns="0" rIns="0" bIns="0" anchor="t">
            <a:spAutoFit/>
          </a:bodyPr>
          <a:lstStyle/>
          <a:p>
            <a:pPr algn="l">
              <a:spcAft>
                <a:spcPts val="600"/>
              </a:spcAft>
            </a:pPr>
            <a:r>
              <a:rPr sz="1300" b="1" i="0">
                <a:solidFill>
                  <a:srgbClr val="0B63CE"/>
                </a:solidFill>
                <a:latin typeface="Segoe UI"/>
              </a:rPr>
              <a:t>APPENDIX · Q&amp;A BACKUP</a:t>
            </a:r>
          </a:p>
        </p:txBody>
      </p:sp>
      <p:sp>
        <p:nvSpPr>
          <p:cNvPr id="5" name="TextBox 4"/>
          <p:cNvSpPr txBox="1"/>
          <p:nvPr/>
        </p:nvSpPr>
        <p:spPr>
          <a:xfrm>
            <a:off x="868680" y="658368"/>
            <a:ext cx="10698480" cy="685800"/>
          </a:xfrm>
          <a:prstGeom prst="rect">
            <a:avLst/>
          </a:prstGeom>
          <a:noFill/>
        </p:spPr>
        <p:txBody>
          <a:bodyPr wrap="square" lIns="0" tIns="0" rIns="0" bIns="0" anchor="t">
            <a:spAutoFit/>
          </a:bodyPr>
          <a:lstStyle/>
          <a:p>
            <a:pPr algn="l">
              <a:spcAft>
                <a:spcPts val="600"/>
              </a:spcAft>
            </a:pPr>
            <a:r>
              <a:rPr sz="3000" b="1" i="0">
                <a:solidFill>
                  <a:srgbClr val="1A1E27"/>
                </a:solidFill>
                <a:latin typeface="Segoe UI Semibold"/>
              </a:rPr>
              <a:t>Why AR Glasses as the Companion Use Case?</a:t>
            </a:r>
          </a:p>
        </p:txBody>
      </p:sp>
      <p:sp>
        <p:nvSpPr>
          <p:cNvPr id="6" name="Rounded Rectangle 5"/>
          <p:cNvSpPr/>
          <p:nvPr/>
        </p:nvSpPr>
        <p:spPr>
          <a:xfrm>
            <a:off x="868680" y="1371600"/>
            <a:ext cx="10424160" cy="685800"/>
          </a:xfrm>
          <a:prstGeom prst="roundRect">
            <a:avLst>
              <a:gd name="adj" fmla="val 10000"/>
            </a:avLst>
          </a:prstGeom>
          <a:solidFill>
            <a:srgbClr val="E9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517904"/>
            <a:ext cx="9966960" cy="411480"/>
          </a:xfrm>
          <a:prstGeom prst="rect">
            <a:avLst/>
          </a:prstGeom>
          <a:noFill/>
        </p:spPr>
        <p:txBody>
          <a:bodyPr wrap="square" lIns="0" tIns="0" rIns="0" bIns="0" anchor="t">
            <a:spAutoFit/>
          </a:bodyPr>
          <a:lstStyle/>
          <a:p>
            <a:pPr algn="l">
              <a:spcAft>
                <a:spcPts val="300"/>
              </a:spcAft>
            </a:pPr>
            <a:r>
              <a:rPr sz="1100" b="1" i="0">
                <a:solidFill>
                  <a:srgbClr val="083D82"/>
                </a:solidFill>
                <a:latin typeface="Segoe UI"/>
              </a:rPr>
              <a:t>KEY MESSAGE</a:t>
            </a:r>
          </a:p>
          <a:p>
            <a:pPr algn="l">
              <a:spcAft>
                <a:spcPts val="600"/>
              </a:spcAft>
            </a:pPr>
            <a:r>
              <a:rPr sz="1400" b="0" i="0">
                <a:solidFill>
                  <a:srgbClr val="1A1E27"/>
                </a:solidFill>
                <a:latin typeface="Segoe UI"/>
              </a:rPr>
              <a:t>Glasses are faster to use than a phone in the exact moment safety matters — and the phone is still there as a fallback.</a:t>
            </a:r>
          </a:p>
        </p:txBody>
      </p:sp>
      <p:sp>
        <p:nvSpPr>
          <p:cNvPr id="8" name="Rounded Rectangle 7"/>
          <p:cNvSpPr/>
          <p:nvPr/>
        </p:nvSpPr>
        <p:spPr>
          <a:xfrm>
            <a:off x="868680" y="2240280"/>
            <a:ext cx="5074920" cy="1554480"/>
          </a:xfrm>
          <a:prstGeom prst="roundRect">
            <a:avLst>
              <a:gd name="adj" fmla="val 8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68680" y="2240280"/>
            <a:ext cx="5074920" cy="73152"/>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9848" y="2441448"/>
            <a:ext cx="4672584" cy="1188720"/>
          </a:xfrm>
          <a:prstGeom prst="rect">
            <a:avLst/>
          </a:prstGeom>
          <a:noFill/>
        </p:spPr>
        <p:txBody>
          <a:bodyPr wrap="square" lIns="0" tIns="0" rIns="0" bIns="0" anchor="t">
            <a:spAutoFit/>
          </a:bodyPr>
          <a:lstStyle/>
          <a:p>
            <a:pPr algn="l">
              <a:spcAft>
                <a:spcPts val="800"/>
              </a:spcAft>
            </a:pPr>
            <a:r>
              <a:rPr sz="1500" b="1" i="0">
                <a:solidFill>
                  <a:srgbClr val="1A1E27"/>
                </a:solidFill>
                <a:latin typeface="Segoe UI Semibold"/>
              </a:rPr>
              <a:t>Glasses already on</a:t>
            </a:r>
          </a:p>
          <a:p>
            <a:pPr algn="l">
              <a:spcAft>
                <a:spcPts val="500"/>
              </a:spcAft>
            </a:pPr>
            <a:r>
              <a:rPr sz="1250" b="0" i="0">
                <a:solidFill>
                  <a:srgbClr val="4A5260"/>
                </a:solidFill>
                <a:latin typeface="Segoe UI"/>
              </a:rPr>
              <a:t>•  Just ask — one step</a:t>
            </a:r>
          </a:p>
          <a:p>
            <a:pPr algn="l">
              <a:spcAft>
                <a:spcPts val="500"/>
              </a:spcAft>
            </a:pPr>
            <a:r>
              <a:rPr sz="1250" b="0" i="0">
                <a:solidFill>
                  <a:srgbClr val="4A5260"/>
                </a:solidFill>
                <a:latin typeface="Segoe UI"/>
              </a:rPr>
              <a:t>•  Speed matters right before the first bite</a:t>
            </a:r>
          </a:p>
        </p:txBody>
      </p:sp>
      <p:sp>
        <p:nvSpPr>
          <p:cNvPr id="11" name="Rounded Rectangle 10"/>
          <p:cNvSpPr/>
          <p:nvPr/>
        </p:nvSpPr>
        <p:spPr>
          <a:xfrm>
            <a:off x="6172200" y="2240280"/>
            <a:ext cx="5074920" cy="1554480"/>
          </a:xfrm>
          <a:prstGeom prst="roundRect">
            <a:avLst>
              <a:gd name="adj" fmla="val 8000"/>
            </a:avLst>
          </a:prstGeom>
          <a:solidFill>
            <a:srgbClr val="FAFBFD"/>
          </a:solidFill>
          <a:ln w="12700">
            <a:solidFill>
              <a:srgbClr val="DCE2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2240280"/>
            <a:ext cx="5074920" cy="73152"/>
          </a:xfrm>
          <a:prstGeom prst="rect">
            <a:avLst/>
          </a:prstGeom>
          <a:solidFill>
            <a:srgbClr val="4A52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3368" y="2441448"/>
            <a:ext cx="4672584" cy="1188720"/>
          </a:xfrm>
          <a:prstGeom prst="rect">
            <a:avLst/>
          </a:prstGeom>
          <a:noFill/>
        </p:spPr>
        <p:txBody>
          <a:bodyPr wrap="square" lIns="0" tIns="0" rIns="0" bIns="0" anchor="t">
            <a:spAutoFit/>
          </a:bodyPr>
          <a:lstStyle/>
          <a:p>
            <a:pPr algn="l">
              <a:spcAft>
                <a:spcPts val="800"/>
              </a:spcAft>
            </a:pPr>
            <a:r>
              <a:rPr sz="1500" b="1" i="0">
                <a:solidFill>
                  <a:srgbClr val="1A1E27"/>
                </a:solidFill>
                <a:latin typeface="Segoe UI Semibold"/>
              </a:rPr>
              <a:t>Phone-only fallback</a:t>
            </a:r>
          </a:p>
          <a:p>
            <a:pPr algn="l">
              <a:spcAft>
                <a:spcPts val="500"/>
              </a:spcAft>
            </a:pPr>
            <a:r>
              <a:rPr sz="1250" b="0" i="0">
                <a:solidFill>
                  <a:srgbClr val="4A5260"/>
                </a:solidFill>
                <a:latin typeface="Segoe UI"/>
              </a:rPr>
              <a:t>•  Unlock → open app → aim camera → ask — four steps</a:t>
            </a:r>
          </a:p>
          <a:p>
            <a:pPr algn="l">
              <a:spcAft>
                <a:spcPts val="500"/>
              </a:spcAft>
            </a:pPr>
            <a:r>
              <a:rPr sz="1250" b="0" i="0">
                <a:solidFill>
                  <a:srgbClr val="4A5260"/>
                </a:solidFill>
                <a:latin typeface="Segoe UI"/>
              </a:rPr>
              <a:t>•  Still works fully if glasses aren't available or worn</a:t>
            </a:r>
          </a:p>
        </p:txBody>
      </p:sp>
      <p:sp>
        <p:nvSpPr>
          <p:cNvPr id="14" name="Rounded Rectangle 13"/>
          <p:cNvSpPr/>
          <p:nvPr/>
        </p:nvSpPr>
        <p:spPr>
          <a:xfrm>
            <a:off x="868680" y="3977639"/>
            <a:ext cx="10424160" cy="1417320"/>
          </a:xfrm>
          <a:prstGeom prst="roundRect">
            <a:avLst>
              <a:gd name="adj" fmla="val 10000"/>
            </a:avLst>
          </a:prstGeom>
          <a:solidFill>
            <a:srgbClr val="FCF2E6"/>
          </a:solidFill>
          <a:ln w="12700">
            <a:solidFill>
              <a:srgbClr val="B56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4114800"/>
            <a:ext cx="10058400" cy="1188720"/>
          </a:xfrm>
          <a:prstGeom prst="rect">
            <a:avLst/>
          </a:prstGeom>
          <a:noFill/>
        </p:spPr>
        <p:txBody>
          <a:bodyPr wrap="square" lIns="0" tIns="0" rIns="0" bIns="0" anchor="t">
            <a:spAutoFit/>
          </a:bodyPr>
          <a:lstStyle/>
          <a:p>
            <a:pPr algn="l">
              <a:spcAft>
                <a:spcPts val="400"/>
              </a:spcAft>
            </a:pPr>
            <a:r>
              <a:rPr sz="1150" b="1" i="0">
                <a:solidFill>
                  <a:srgbClr val="B56A0A"/>
                </a:solidFill>
                <a:latin typeface="Segoe UI"/>
              </a:rPr>
              <a:t>HONEST NOTE (WORTH RAISING PROACTIVELY)</a:t>
            </a:r>
          </a:p>
          <a:p>
            <a:pPr algn="l">
              <a:spcAft>
                <a:spcPts val="600"/>
              </a:spcAft>
            </a:pPr>
            <a:r>
              <a:rPr sz="1350" b="0" i="0">
                <a:solidFill>
                  <a:srgbClr val="1A1E27"/>
                </a:solidFill>
                <a:latin typeface="Segoe UI"/>
              </a:rPr>
              <a:t>LM Studio on X Elite is CPU-only in this build — no NPU/GPU acceleration yet. Worth stating proactively if a Qualcomm engineer doesn't ask, since it's the clearest immediate next step for this project.</a:t>
            </a:r>
          </a:p>
        </p:txBody>
      </p:sp>
      <p:sp>
        <p:nvSpPr>
          <p:cNvPr id="16" name="TextBox 15"/>
          <p:cNvSpPr txBox="1"/>
          <p:nvPr/>
        </p:nvSpPr>
        <p:spPr>
          <a:xfrm>
            <a:off x="548640" y="6510528"/>
            <a:ext cx="7315200" cy="274320"/>
          </a:xfrm>
          <a:prstGeom prst="rect">
            <a:avLst/>
          </a:prstGeom>
          <a:noFill/>
        </p:spPr>
        <p:txBody>
          <a:bodyPr wrap="square" lIns="0" tIns="0" rIns="0" bIns="0" anchor="t">
            <a:spAutoFit/>
          </a:bodyPr>
          <a:lstStyle/>
          <a:p>
            <a:pPr algn="l">
              <a:spcAft>
                <a:spcPts val="600"/>
              </a:spcAft>
            </a:pPr>
            <a:r>
              <a:rPr sz="1000" b="0" i="0">
                <a:solidFill>
                  <a:srgbClr val="4A5260"/>
                </a:solidFill>
                <a:latin typeface="Segoe UI"/>
              </a:rPr>
              <a:t>AI-Powered Allergen Detection  |  AR Glasses · Edge AI · Multipath QUIC</a:t>
            </a:r>
          </a:p>
        </p:txBody>
      </p:sp>
      <p:sp>
        <p:nvSpPr>
          <p:cNvPr id="17" name="TextBox 16"/>
          <p:cNvSpPr txBox="1"/>
          <p:nvPr/>
        </p:nvSpPr>
        <p:spPr>
          <a:xfrm>
            <a:off x="10881360" y="6510528"/>
            <a:ext cx="822960" cy="274320"/>
          </a:xfrm>
          <a:prstGeom prst="rect">
            <a:avLst/>
          </a:prstGeom>
          <a:noFill/>
        </p:spPr>
        <p:txBody>
          <a:bodyPr wrap="square" lIns="0" tIns="0" rIns="0" bIns="0" anchor="t">
            <a:spAutoFit/>
          </a:bodyPr>
          <a:lstStyle/>
          <a:p>
            <a:pPr algn="r">
              <a:spcAft>
                <a:spcPts val="600"/>
              </a:spcAft>
            </a:pPr>
            <a:r>
              <a:rPr sz="1000" b="0" i="0">
                <a:solidFill>
                  <a:srgbClr val="4A5260"/>
                </a:solidFill>
                <a:latin typeface="Segoe UI"/>
              </a:rPr>
              <a:t>Appendix D</a:t>
            </a:r>
          </a:p>
        </p:txBody>
      </p:sp>
      <p:sp>
        <p:nvSpPr>
          <p:cNvPr id="18" name="Rectangle 17"/>
          <p:cNvSpPr/>
          <p:nvPr/>
        </p:nvSpPr>
        <p:spPr>
          <a:xfrm>
            <a:off x="548640" y="6419088"/>
            <a:ext cx="11091672" cy="12700"/>
          </a:xfrm>
          <a:prstGeom prst="rect">
            <a:avLst/>
          </a:prstGeom>
          <a:solidFill>
            <a:srgbClr val="DC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457200"/>
            <a:ext cx="128016" cy="777240"/>
          </a:xfrm>
          <a:prstGeom prst="rect">
            <a:avLst/>
          </a:prstGeom>
          <a:solidFill>
            <a:srgbClr val="0B6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384048"/>
            <a:ext cx="10698480" cy="320040"/>
          </a:xfrm>
          <a:prstGeom prst="rect">
            <a:avLst/>
          </a:prstGeom>
          <a:noFill/>
        </p:spPr>
        <p:txBody>
          <a:bodyPr wrap="square" lIns="0" tIns="0" rIns="0" bIns="0" anchor="t">
            <a:spAutoFit/>
          </a:bodyPr>
          <a:lstStyle/>
          <a:p>
            <a:pPr algn="l">
              <a:spcAft>
                <a:spcPts val="600"/>
              </a:spcAft>
            </a:pPr>
            <a:r>
              <a:rPr sz="1300" b="1" i="0">
                <a:solidFill>
                  <a:srgbClr val="0B63CE"/>
                </a:solidFill>
                <a:latin typeface="Segoe UI"/>
              </a:rPr>
              <a:t>APPENDIX · VISION</a:t>
            </a:r>
          </a:p>
        </p:txBody>
      </p:sp>
      <p:sp>
        <p:nvSpPr>
          <p:cNvPr id="5" name="TextBox 4"/>
          <p:cNvSpPr txBox="1"/>
          <p:nvPr/>
        </p:nvSpPr>
        <p:spPr>
          <a:xfrm>
            <a:off x="868680" y="658368"/>
            <a:ext cx="10698480" cy="685800"/>
          </a:xfrm>
          <a:prstGeom prst="rect">
            <a:avLst/>
          </a:prstGeom>
          <a:noFill/>
        </p:spPr>
        <p:txBody>
          <a:bodyPr wrap="square" lIns="0" tIns="0" rIns="0" bIns="0" anchor="t">
            <a:spAutoFit/>
          </a:bodyPr>
          <a:lstStyle/>
          <a:p>
            <a:pPr algn="l">
              <a:spcAft>
                <a:spcPts val="600"/>
              </a:spcAft>
            </a:pPr>
            <a:r>
              <a:rPr sz="3000" b="1" i="0">
                <a:solidFill>
                  <a:srgbClr val="1A1E27"/>
                </a:solidFill>
                <a:latin typeface="Segoe UI Semibold"/>
              </a:rPr>
              <a:t>Beyond Allergen Detection</a:t>
            </a:r>
          </a:p>
        </p:txBody>
      </p:sp>
      <p:sp>
        <p:nvSpPr>
          <p:cNvPr id="6" name="TextBox 5"/>
          <p:cNvSpPr txBox="1"/>
          <p:nvPr/>
        </p:nvSpPr>
        <p:spPr>
          <a:xfrm>
            <a:off x="868680" y="1417320"/>
            <a:ext cx="10515600" cy="457200"/>
          </a:xfrm>
          <a:prstGeom prst="rect">
            <a:avLst/>
          </a:prstGeom>
          <a:noFill/>
        </p:spPr>
        <p:txBody>
          <a:bodyPr wrap="square" lIns="0" tIns="0" rIns="0" bIns="0" anchor="t">
            <a:spAutoFit/>
          </a:bodyPr>
          <a:lstStyle/>
          <a:p>
            <a:pPr algn="l">
              <a:spcAft>
                <a:spcPts val="600"/>
              </a:spcAft>
            </a:pPr>
            <a:r>
              <a:rPr sz="1600" b="0" i="0" dirty="0">
                <a:solidFill>
                  <a:srgbClr val="4A5260"/>
                </a:solidFill>
                <a:latin typeface="Segoe UI"/>
              </a:rPr>
              <a:t>The same local-first, cloud-when-needed pattern generalizes to any everyday task.</a:t>
            </a:r>
          </a:p>
        </p:txBody>
      </p:sp>
      <p:pic>
        <p:nvPicPr>
          <p:cNvPr id="7" name="Picture 6"/>
          <p:cNvPicPr>
            <a:picLocks noChangeAspect="1"/>
          </p:cNvPicPr>
          <p:nvPr/>
        </p:nvPicPr>
        <p:blipFill>
          <a:blip r:embed="rId3"/>
          <a:srcRect/>
          <a:stretch/>
        </p:blipFill>
        <p:spPr>
          <a:xfrm>
            <a:off x="2704289" y="1820100"/>
            <a:ext cx="6780374" cy="4520248"/>
          </a:xfrm>
          <a:prstGeom prst="rect">
            <a:avLst/>
          </a:prstGeom>
        </p:spPr>
      </p:pic>
      <p:sp>
        <p:nvSpPr>
          <p:cNvPr id="8" name="TextBox 7"/>
          <p:cNvSpPr txBox="1"/>
          <p:nvPr/>
        </p:nvSpPr>
        <p:spPr>
          <a:xfrm>
            <a:off x="548640" y="6510528"/>
            <a:ext cx="7315200" cy="274320"/>
          </a:xfrm>
          <a:prstGeom prst="rect">
            <a:avLst/>
          </a:prstGeom>
          <a:noFill/>
        </p:spPr>
        <p:txBody>
          <a:bodyPr wrap="square" lIns="0" tIns="0" rIns="0" bIns="0" anchor="t">
            <a:spAutoFit/>
          </a:bodyPr>
          <a:lstStyle/>
          <a:p>
            <a:pPr algn="l">
              <a:spcAft>
                <a:spcPts val="600"/>
              </a:spcAft>
            </a:pPr>
            <a:r>
              <a:rPr sz="1000" b="0" i="0">
                <a:solidFill>
                  <a:srgbClr val="4A5260"/>
                </a:solidFill>
                <a:latin typeface="Segoe UI"/>
              </a:rPr>
              <a:t>AI-Powered Allergen Detection  |  AR Glasses · Edge AI · Multipath QUIC</a:t>
            </a:r>
          </a:p>
        </p:txBody>
      </p:sp>
      <p:sp>
        <p:nvSpPr>
          <p:cNvPr id="9" name="TextBox 8"/>
          <p:cNvSpPr txBox="1"/>
          <p:nvPr/>
        </p:nvSpPr>
        <p:spPr>
          <a:xfrm>
            <a:off x="10881360" y="6510528"/>
            <a:ext cx="822960" cy="274320"/>
          </a:xfrm>
          <a:prstGeom prst="rect">
            <a:avLst/>
          </a:prstGeom>
          <a:noFill/>
        </p:spPr>
        <p:txBody>
          <a:bodyPr wrap="square" lIns="0" tIns="0" rIns="0" bIns="0" anchor="t">
            <a:spAutoFit/>
          </a:bodyPr>
          <a:lstStyle/>
          <a:p>
            <a:pPr algn="r">
              <a:spcAft>
                <a:spcPts val="600"/>
              </a:spcAft>
            </a:pPr>
            <a:r>
              <a:rPr sz="1000" b="0" i="0">
                <a:solidFill>
                  <a:srgbClr val="4A5260"/>
                </a:solidFill>
                <a:latin typeface="Segoe UI"/>
              </a:rPr>
              <a:t>Appendix E</a:t>
            </a:r>
          </a:p>
        </p:txBody>
      </p:sp>
      <p:sp>
        <p:nvSpPr>
          <p:cNvPr id="10" name="Rectangle 9"/>
          <p:cNvSpPr/>
          <p:nvPr/>
        </p:nvSpPr>
        <p:spPr>
          <a:xfrm>
            <a:off x="548640" y="6419088"/>
            <a:ext cx="11091672" cy="12700"/>
          </a:xfrm>
          <a:prstGeom prst="rect">
            <a:avLst/>
          </a:prstGeom>
          <a:solidFill>
            <a:srgbClr val="DC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8f6f869-1ed0-46b3-a227-1d3e52347e28}" enabled="1" method="Standard" siteId="{98e9ba89-e1a1-4e38-9007-8bdabc25de1d}" contentBits="0" removed="0"/>
</clbl:labelList>
</file>

<file path=docProps/app.xml><?xml version="1.0" encoding="utf-8"?>
<Properties xmlns="http://schemas.openxmlformats.org/officeDocument/2006/extended-properties" xmlns:vt="http://schemas.openxmlformats.org/officeDocument/2006/docPropsVTypes">
  <TotalTime>2</TotalTime>
  <Words>2298</Words>
  <Application>Microsoft Office PowerPoint</Application>
  <PresentationFormat>Widescreen</PresentationFormat>
  <Paragraphs>172</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Chaitanya Mehta</cp:lastModifiedBy>
  <cp:revision>3</cp:revision>
  <dcterms:created xsi:type="dcterms:W3CDTF">2013-01-27T09:14:16Z</dcterms:created>
  <dcterms:modified xsi:type="dcterms:W3CDTF">2026-08-06T22:32:53Z</dcterms:modified>
  <cp:category/>
</cp:coreProperties>
</file>